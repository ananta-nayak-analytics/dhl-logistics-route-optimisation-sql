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80" r:id="rId26"/>
    <p:sldId id="281" r:id="rId27"/>
    <p:sldId id="283" r:id="rId28"/>
    <p:sldId id="284" r:id="rId29"/>
    <p:sldId id="285" r:id="rId30"/>
    <p:sldId id="286" r:id="rId31"/>
    <p:sldId id="288" r:id="rId32"/>
    <p:sldId id="289" r:id="rId33"/>
    <p:sldId id="290" r:id="rId34"/>
    <p:sldId id="292" r:id="rId35"/>
    <p:sldId id="293" r:id="rId36"/>
    <p:sldId id="294" r:id="rId37"/>
    <p:sldId id="295" r:id="rId38"/>
    <p:sldId id="296" r:id="rId39"/>
    <p:sldId id="297" r:id="rId40"/>
    <p:sldId id="298" r:id="rId41"/>
    <p:sldId id="299" r:id="rId42"/>
    <p:sldId id="300"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77"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nant\OneDrive\Desktop\New%20XLSX%20Workshee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anant\OneDrive\Desktop\New%20XLSX%20Worksheet.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dirty="0"/>
              <a:t>Efficiency</a:t>
            </a:r>
            <a:r>
              <a:rPr lang="en-US" baseline="0" dirty="0"/>
              <a:t> </a:t>
            </a:r>
            <a:r>
              <a:rPr lang="en-US" dirty="0"/>
              <a:t>ratio By routes</a:t>
            </a:r>
          </a:p>
        </c:rich>
      </c:tx>
      <c:layout>
        <c:manualLayout>
          <c:xMode val="edge"/>
          <c:yMode val="edge"/>
          <c:x val="0.36783333333333329"/>
          <c:y val="3.2407407407407406E-2"/>
        </c:manualLayout>
      </c:layout>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view3D>
      <c:rotX val="0"/>
      <c:rotY val="0"/>
      <c:depthPercent val="60"/>
      <c:rAngAx val="0"/>
      <c:perspective val="100"/>
    </c:view3D>
    <c:floor>
      <c:thickness val="0"/>
      <c:spPr>
        <a:solidFill>
          <a:schemeClr val="lt1">
            <a:lumMod val="95000"/>
          </a:schemeClr>
        </a:solid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Sheet3!$C$35</c:f>
              <c:strCache>
                <c:ptCount val="1"/>
                <c:pt idx="0">
                  <c:v>Efficiency_ratio</c:v>
                </c:pt>
              </c:strCache>
            </c:strRef>
          </c:tx>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Sheet3!$B$36:$B$55</c:f>
              <c:strCache>
                <c:ptCount val="20"/>
                <c:pt idx="0">
                  <c:v>R001</c:v>
                </c:pt>
                <c:pt idx="1">
                  <c:v>R002</c:v>
                </c:pt>
                <c:pt idx="2">
                  <c:v>R003</c:v>
                </c:pt>
                <c:pt idx="3">
                  <c:v>R004</c:v>
                </c:pt>
                <c:pt idx="4">
                  <c:v>R005</c:v>
                </c:pt>
                <c:pt idx="5">
                  <c:v>R006</c:v>
                </c:pt>
                <c:pt idx="6">
                  <c:v>R007</c:v>
                </c:pt>
                <c:pt idx="7">
                  <c:v>R008</c:v>
                </c:pt>
                <c:pt idx="8">
                  <c:v>R009</c:v>
                </c:pt>
                <c:pt idx="9">
                  <c:v>R010</c:v>
                </c:pt>
                <c:pt idx="10">
                  <c:v>R011</c:v>
                </c:pt>
                <c:pt idx="11">
                  <c:v>R012</c:v>
                </c:pt>
                <c:pt idx="12">
                  <c:v>R013</c:v>
                </c:pt>
                <c:pt idx="13">
                  <c:v>R014</c:v>
                </c:pt>
                <c:pt idx="14">
                  <c:v>R015</c:v>
                </c:pt>
                <c:pt idx="15">
                  <c:v>R016</c:v>
                </c:pt>
                <c:pt idx="16">
                  <c:v>R017</c:v>
                </c:pt>
                <c:pt idx="17">
                  <c:v>R018</c:v>
                </c:pt>
                <c:pt idx="18">
                  <c:v>R019</c:v>
                </c:pt>
                <c:pt idx="19">
                  <c:v>R020</c:v>
                </c:pt>
              </c:strCache>
            </c:strRef>
          </c:cat>
          <c:val>
            <c:numRef>
              <c:f>Sheet3!$C$36:$C$55</c:f>
              <c:numCache>
                <c:formatCode>0.0</c:formatCode>
                <c:ptCount val="20"/>
                <c:pt idx="0">
                  <c:v>104.2996</c:v>
                </c:pt>
                <c:pt idx="1">
                  <c:v>114.0307</c:v>
                </c:pt>
                <c:pt idx="2">
                  <c:v>14.6996</c:v>
                </c:pt>
                <c:pt idx="3">
                  <c:v>102.143</c:v>
                </c:pt>
                <c:pt idx="4">
                  <c:v>175.4573</c:v>
                </c:pt>
                <c:pt idx="5">
                  <c:v>56.8904</c:v>
                </c:pt>
                <c:pt idx="6">
                  <c:v>74.708799999999997</c:v>
                </c:pt>
                <c:pt idx="7">
                  <c:v>36.099600000000002</c:v>
                </c:pt>
                <c:pt idx="8">
                  <c:v>198.05420000000001</c:v>
                </c:pt>
                <c:pt idx="9">
                  <c:v>186.67580000000001</c:v>
                </c:pt>
                <c:pt idx="10">
                  <c:v>179.18539999999999</c:v>
                </c:pt>
                <c:pt idx="11">
                  <c:v>178.62639999999999</c:v>
                </c:pt>
                <c:pt idx="12">
                  <c:v>75.307699999999997</c:v>
                </c:pt>
                <c:pt idx="13">
                  <c:v>103.0205</c:v>
                </c:pt>
                <c:pt idx="14">
                  <c:v>21.560400000000001</c:v>
                </c:pt>
                <c:pt idx="15">
                  <c:v>155.2859</c:v>
                </c:pt>
                <c:pt idx="16">
                  <c:v>94.201800000000006</c:v>
                </c:pt>
                <c:pt idx="17">
                  <c:v>123.4273</c:v>
                </c:pt>
                <c:pt idx="18">
                  <c:v>236.05250000000001</c:v>
                </c:pt>
                <c:pt idx="19">
                  <c:v>47.436399999999999</c:v>
                </c:pt>
              </c:numCache>
            </c:numRef>
          </c:val>
          <c:extLst>
            <c:ext xmlns:c16="http://schemas.microsoft.com/office/drawing/2014/chart" uri="{C3380CC4-5D6E-409C-BE32-E72D297353CC}">
              <c16:uniqueId val="{00000000-EBCD-443B-8F37-FCAC78805294}"/>
            </c:ext>
          </c:extLst>
        </c:ser>
        <c:dLbls>
          <c:showLegendKey val="0"/>
          <c:showVal val="1"/>
          <c:showCatName val="0"/>
          <c:showSerName val="0"/>
          <c:showPercent val="0"/>
          <c:showBubbleSize val="0"/>
        </c:dLbls>
        <c:gapWidth val="65"/>
        <c:shape val="box"/>
        <c:axId val="514874016"/>
        <c:axId val="514864416"/>
        <c:axId val="0"/>
      </c:bar3DChart>
      <c:catAx>
        <c:axId val="514874016"/>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a:solidFill>
                  <a:schemeClr val="dk1">
                    <a:lumMod val="75000"/>
                    <a:lumOff val="25000"/>
                  </a:schemeClr>
                </a:solidFill>
                <a:latin typeface="+mn-lt"/>
                <a:ea typeface="+mn-ea"/>
                <a:cs typeface="+mn-cs"/>
              </a:defRPr>
            </a:pPr>
            <a:endParaRPr lang="en-US"/>
          </a:p>
        </c:txPr>
        <c:crossAx val="514864416"/>
        <c:crosses val="autoZero"/>
        <c:auto val="1"/>
        <c:lblAlgn val="ctr"/>
        <c:lblOffset val="100"/>
        <c:noMultiLvlLbl val="0"/>
      </c:catAx>
      <c:valAx>
        <c:axId val="514864416"/>
        <c:scaling>
          <c:orientation val="minMax"/>
        </c:scaling>
        <c:delete val="0"/>
        <c:axPos val="l"/>
        <c:majorGridlines>
          <c:spPr>
            <a:ln w="9525" cap="flat" cmpd="sng" algn="ctr">
              <a:solidFill>
                <a:schemeClr val="dk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crossAx val="5148740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title>
      <c:tx>
        <c:rich>
          <a:bodyPr rot="0" spcFirstLastPara="1" vertOverflow="ellipsis" vert="horz" wrap="square" anchor="ctr" anchorCtr="1"/>
          <a:lstStyle/>
          <a:p>
            <a:pPr>
              <a:defRPr sz="1800" b="1" i="0" u="none" strike="noStrike" kern="1200" cap="all" spc="50" baseline="0">
                <a:solidFill>
                  <a:schemeClr val="tx1">
                    <a:lumMod val="65000"/>
                    <a:lumOff val="35000"/>
                  </a:schemeClr>
                </a:solidFill>
                <a:latin typeface="+mn-lt"/>
                <a:ea typeface="+mn-ea"/>
                <a:cs typeface="+mn-cs"/>
              </a:defRPr>
            </a:pPr>
            <a:r>
              <a:rPr lang="en-US"/>
              <a:t>Delay_Percentage BY routes</a:t>
            </a:r>
          </a:p>
        </c:rich>
      </c:tx>
      <c:layout>
        <c:manualLayout>
          <c:xMode val="edge"/>
          <c:yMode val="edge"/>
          <c:x val="0.15088922764227641"/>
          <c:y val="1.756697408871322E-2"/>
        </c:manualLayout>
      </c:layout>
      <c:overlay val="0"/>
      <c:spPr>
        <a:noFill/>
        <a:ln>
          <a:noFill/>
        </a:ln>
        <a:effectLst/>
      </c:spPr>
      <c:txPr>
        <a:bodyPr rot="0" spcFirstLastPara="1" vertOverflow="ellipsis" vert="horz" wrap="square" anchor="ctr" anchorCtr="1"/>
        <a:lstStyle/>
        <a:p>
          <a:pPr>
            <a:defRPr sz="1800" b="1" i="0" u="none" strike="noStrike" kern="1200" cap="all" spc="50" baseline="0">
              <a:solidFill>
                <a:schemeClr val="tx1">
                  <a:lumMod val="65000"/>
                  <a:lumOff val="35000"/>
                </a:schemeClr>
              </a:solidFill>
              <a:latin typeface="+mn-lt"/>
              <a:ea typeface="+mn-ea"/>
              <a:cs typeface="+mn-cs"/>
            </a:defRPr>
          </a:pPr>
          <a:endParaRPr lang="en-US"/>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Sheet4!$C$1</c:f>
              <c:strCache>
                <c:ptCount val="1"/>
                <c:pt idx="0">
                  <c:v>Delay_Percentage</c:v>
                </c:pt>
              </c:strCache>
            </c:strRef>
          </c:tx>
          <c:spPr>
            <a:gradFill>
              <a:gsLst>
                <a:gs pos="100000">
                  <a:schemeClr val="accent4">
                    <a:alpha val="0"/>
                  </a:schemeClr>
                </a:gs>
                <a:gs pos="50000">
                  <a:schemeClr val="accent4"/>
                </a:gs>
              </a:gsLst>
              <a:lin ang="5400000" scaled="0"/>
            </a:gra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Sheet4!$B$2:$B$21</c:f>
              <c:strCache>
                <c:ptCount val="20"/>
                <c:pt idx="0">
                  <c:v>R019</c:v>
                </c:pt>
                <c:pt idx="1">
                  <c:v>R011</c:v>
                </c:pt>
                <c:pt idx="2">
                  <c:v>R002</c:v>
                </c:pt>
                <c:pt idx="3">
                  <c:v>R020</c:v>
                </c:pt>
                <c:pt idx="4">
                  <c:v>R015</c:v>
                </c:pt>
                <c:pt idx="5">
                  <c:v>R008</c:v>
                </c:pt>
                <c:pt idx="6">
                  <c:v>R012</c:v>
                </c:pt>
                <c:pt idx="7">
                  <c:v>R009</c:v>
                </c:pt>
                <c:pt idx="8">
                  <c:v>R010</c:v>
                </c:pt>
                <c:pt idx="9">
                  <c:v>R018</c:v>
                </c:pt>
                <c:pt idx="10">
                  <c:v>R014</c:v>
                </c:pt>
                <c:pt idx="11">
                  <c:v>R016</c:v>
                </c:pt>
                <c:pt idx="12">
                  <c:v>R005</c:v>
                </c:pt>
                <c:pt idx="13">
                  <c:v>R007</c:v>
                </c:pt>
                <c:pt idx="14">
                  <c:v>R003</c:v>
                </c:pt>
                <c:pt idx="15">
                  <c:v>R017</c:v>
                </c:pt>
                <c:pt idx="16">
                  <c:v>R013</c:v>
                </c:pt>
                <c:pt idx="17">
                  <c:v>R006</c:v>
                </c:pt>
                <c:pt idx="18">
                  <c:v>R004</c:v>
                </c:pt>
                <c:pt idx="19">
                  <c:v>R001</c:v>
                </c:pt>
              </c:strCache>
            </c:strRef>
          </c:cat>
          <c:val>
            <c:numRef>
              <c:f>Sheet4!$C$2:$C$21</c:f>
              <c:numCache>
                <c:formatCode>0.0</c:formatCode>
                <c:ptCount val="20"/>
                <c:pt idx="0">
                  <c:v>91.836730000000003</c:v>
                </c:pt>
                <c:pt idx="1">
                  <c:v>91.666669999999996</c:v>
                </c:pt>
                <c:pt idx="2">
                  <c:v>93.617019999999997</c:v>
                </c:pt>
                <c:pt idx="3">
                  <c:v>92.857140000000001</c:v>
                </c:pt>
                <c:pt idx="4">
                  <c:v>82.142859999999999</c:v>
                </c:pt>
                <c:pt idx="5">
                  <c:v>90.909090000000006</c:v>
                </c:pt>
                <c:pt idx="6">
                  <c:v>98.214290000000005</c:v>
                </c:pt>
                <c:pt idx="7">
                  <c:v>100</c:v>
                </c:pt>
                <c:pt idx="8">
                  <c:v>98.076920000000001</c:v>
                </c:pt>
                <c:pt idx="9">
                  <c:v>94.91525</c:v>
                </c:pt>
                <c:pt idx="10">
                  <c:v>92.452830000000006</c:v>
                </c:pt>
                <c:pt idx="11">
                  <c:v>88.732389999999995</c:v>
                </c:pt>
                <c:pt idx="12">
                  <c:v>97.916669999999996</c:v>
                </c:pt>
                <c:pt idx="13">
                  <c:v>96.078429999999997</c:v>
                </c:pt>
                <c:pt idx="14">
                  <c:v>97.058819999999997</c:v>
                </c:pt>
                <c:pt idx="15">
                  <c:v>90.566040000000001</c:v>
                </c:pt>
                <c:pt idx="16">
                  <c:v>92</c:v>
                </c:pt>
                <c:pt idx="17">
                  <c:v>92.857140000000001</c:v>
                </c:pt>
                <c:pt idx="18">
                  <c:v>97.959180000000003</c:v>
                </c:pt>
                <c:pt idx="19">
                  <c:v>88.636359999999996</c:v>
                </c:pt>
              </c:numCache>
            </c:numRef>
          </c:val>
          <c:extLst>
            <c:ext xmlns:c16="http://schemas.microsoft.com/office/drawing/2014/chart" uri="{C3380CC4-5D6E-409C-BE32-E72D297353CC}">
              <c16:uniqueId val="{00000000-6C46-45ED-AA01-9E576840F0C4}"/>
            </c:ext>
          </c:extLst>
        </c:ser>
        <c:dLbls>
          <c:showLegendKey val="0"/>
          <c:showVal val="1"/>
          <c:showCatName val="0"/>
          <c:showSerName val="0"/>
          <c:showPercent val="0"/>
          <c:showBubbleSize val="0"/>
        </c:dLbls>
        <c:gapWidth val="150"/>
        <c:gapDepth val="0"/>
        <c:shape val="box"/>
        <c:axId val="514889376"/>
        <c:axId val="514891776"/>
        <c:axId val="0"/>
      </c:bar3DChart>
      <c:catAx>
        <c:axId val="514889376"/>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14891776"/>
        <c:crosses val="autoZero"/>
        <c:auto val="1"/>
        <c:lblAlgn val="ctr"/>
        <c:lblOffset val="100"/>
        <c:noMultiLvlLbl val="0"/>
      </c:catAx>
      <c:valAx>
        <c:axId val="514891776"/>
        <c:scaling>
          <c:orientation val="minMax"/>
        </c:scaling>
        <c:delete val="0"/>
        <c:axPos val="l"/>
        <c:majorGridlines>
          <c:spPr>
            <a:ln w="9525" cap="flat" cmpd="sng" algn="ctr">
              <a:solidFill>
                <a:schemeClr val="tx1">
                  <a:lumMod val="5000"/>
                  <a:lumOff val="9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1488937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7">
  <a:schemeClr val="accent4"/>
</cs:colorStyle>
</file>

<file path=ppt/charts/style1.xml><?xml version="1.0" encoding="utf-8"?>
<cs:chartStyle xmlns:cs="http://schemas.microsoft.com/office/drawing/2012/chartStyle" xmlns:a="http://schemas.openxmlformats.org/drawingml/2006/main" id="28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solidFill>
        <a:schemeClr val="phClr">
          <a:alpha val="85000"/>
        </a:schemeClr>
      </a:solidFill>
      <a:ln w="9525" cap="flat" cmpd="sng" algn="ctr">
        <a:solidFill>
          <a:schemeClr val="phClr">
            <a:lumMod val="75000"/>
          </a:schemeClr>
        </a:solidFill>
        <a:round/>
      </a:ln>
    </cs:spPr>
  </cs:dataPoint>
  <cs:dataPoint3D>
    <cs:lnRef idx="0">
      <cs:styleClr val="auto"/>
    </cs:lnRef>
    <cs:fillRef idx="0">
      <cs:styleClr val="auto"/>
    </cs:fillRef>
    <cs:effectRef idx="0">
      <cs:styleClr val="auto"/>
    </cs:effectRef>
    <cs:fontRef idx="minor">
      <a:schemeClr val="dk1"/>
    </cs:fontRef>
    <cs:spPr>
      <a:solidFill>
        <a:schemeClr val="phClr">
          <a:alpha val="85000"/>
        </a:schemeClr>
      </a:solidFill>
      <a:ln w="9525" cap="flat" cmpd="sng" algn="ctr">
        <a:solidFill>
          <a:schemeClr val="phClr">
            <a:lumMod val="75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spPr>
      <a:solidFill>
        <a:schemeClr val="lt1">
          <a:lumMod val="95000"/>
        </a:schemeClr>
      </a:solidFill>
      <a:sp3d/>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93">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
  <cs:dataPoint3D>
    <cs:lnRef idx="0"/>
    <cs:fillRef idx="0">
      <cs:styleClr val="auto"/>
    </cs:fillRef>
    <cs:effectRef idx="0"/>
    <cs:fontRef idx="minor">
      <a:schemeClr val="tx1"/>
    </cs:fontRef>
    <cs:spPr>
      <a:gradFill>
        <a:gsLst>
          <a:gs pos="100000">
            <a:schemeClr val="phClr">
              <a:alpha val="0"/>
            </a:schemeClr>
          </a:gs>
          <a:gs pos="50000">
            <a:schemeClr val="phClr"/>
          </a:gs>
        </a:gsLst>
        <a:lin ang="5400000" scaled="0"/>
      </a:gradFill>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tx1"/>
    </cs:fontRef>
    <cs:spPr>
      <a:ln w="9525" cap="flat" cmpd="sng" algn="ctr">
        <a:solidFill>
          <a:schemeClr val="tx1">
            <a:lumMod val="5000"/>
            <a:lumOff val="9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A3A006B-4330-44AA-B68E-4C008E120DA8}" type="datetimeFigureOut">
              <a:rPr lang="en-IN" smtClean="0"/>
              <a:t>24-01-2026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251E8B-F719-432A-946F-39B52593CDA6}"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3A006B-4330-44AA-B68E-4C008E120DA8}" type="datetimeFigureOut">
              <a:rPr lang="en-IN" smtClean="0"/>
              <a:t>24-01-2026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251E8B-F719-432A-946F-39B52593CDA6}"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3A006B-4330-44AA-B68E-4C008E120DA8}" type="datetimeFigureOut">
              <a:rPr lang="en-IN" smtClean="0"/>
              <a:t>24-01-2026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251E8B-F719-432A-946F-39B52593CDA6}"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A3A006B-4330-44AA-B68E-4C008E120DA8}" type="datetimeFigureOut">
              <a:rPr lang="en-IN" smtClean="0"/>
              <a:t>24-01-2026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C251E8B-F719-432A-946F-39B52593CDA6}"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A3A006B-4330-44AA-B68E-4C008E120DA8}" type="datetimeFigureOut">
              <a:rPr lang="en-IN" smtClean="0"/>
              <a:t>24-01-2026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C251E8B-F719-432A-946F-39B52593CDA6}"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A3A006B-4330-44AA-B68E-4C008E120DA8}" type="datetimeFigureOut">
              <a:rPr lang="en-IN" smtClean="0"/>
              <a:t>24-01-2026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C251E8B-F719-432A-946F-39B52593CDA6}"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3A006B-4330-44AA-B68E-4C008E120DA8}" type="datetimeFigureOut">
              <a:rPr lang="en-IN" smtClean="0"/>
              <a:t>24-01-2026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C251E8B-F719-432A-946F-39B52593CDA6}"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3A006B-4330-44AA-B68E-4C008E120DA8}" type="datetimeFigureOut">
              <a:rPr lang="en-IN" smtClean="0"/>
              <a:t>24-01-2026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C251E8B-F719-432A-946F-39B52593CDA6}"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3A006B-4330-44AA-B68E-4C008E120DA8}" type="datetimeFigureOut">
              <a:rPr lang="en-IN" smtClean="0"/>
              <a:t>24-01-2026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C251E8B-F719-432A-946F-39B52593CDA6}"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3A006B-4330-44AA-B68E-4C008E120DA8}" type="datetimeFigureOut">
              <a:rPr lang="en-IN" smtClean="0"/>
              <a:t>24-01-2026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251E8B-F719-432A-946F-39B52593CDA6}"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3A006B-4330-44AA-B68E-4C008E120DA8}" type="datetimeFigureOut">
              <a:rPr lang="en-IN" smtClean="0"/>
              <a:t>24-01-2026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251E8B-F719-432A-946F-39B52593CDA6}"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A3A006B-4330-44AA-B68E-4C008E120DA8}" type="datetimeFigureOut">
              <a:rPr lang="en-IN" smtClean="0"/>
              <a:t>24-01-2026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251E8B-F719-432A-946F-39B52593CDA6}" type="slidenum">
              <a:rPr lang="en-IN" smtClean="0"/>
              <a:t>‹#›</a:t>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3A006B-4330-44AA-B68E-4C008E120DA8}" type="datetimeFigureOut">
              <a:rPr lang="en-IN" smtClean="0"/>
              <a:t>24-01-2026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251E8B-F719-432A-946F-39B52593CDA6}" type="slidenum">
              <a:rPr lang="en-IN" smtClean="0"/>
              <a:t>‹#›</a:t>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3A006B-4330-44AA-B68E-4C008E120DA8}" type="datetimeFigureOut">
              <a:rPr lang="en-IN" smtClean="0"/>
              <a:t>24-01-2026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251E8B-F719-432A-946F-39B52593CDA6}" type="slidenum">
              <a:rPr lang="en-IN" smtClean="0"/>
              <a:t>‹#›</a:t>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A3A006B-4330-44AA-B68E-4C008E120DA8}" type="datetimeFigureOut">
              <a:rPr lang="en-IN" smtClean="0"/>
              <a:t>24-01-2026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C251E8B-F719-432A-946F-39B52593CDA6}" type="slidenum">
              <a:rPr lang="en-IN" smtClean="0"/>
              <a:t>‹#›</a:t>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A3A006B-4330-44AA-B68E-4C008E120DA8}" type="datetimeFigureOut">
              <a:rPr lang="en-IN" smtClean="0"/>
              <a:t>24-01-2026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C251E8B-F719-432A-946F-39B52593CDA6}" type="slidenum">
              <a:rPr lang="en-IN" smtClean="0"/>
              <a:t>‹#›</a:t>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A3A006B-4330-44AA-B68E-4C008E120DA8}" type="datetimeFigureOut">
              <a:rPr lang="en-IN" smtClean="0"/>
              <a:t>24-01-2026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C251E8B-F719-432A-946F-39B52593CDA6}" type="slidenum">
              <a:rPr lang="en-IN" smtClean="0"/>
              <a:t>‹#›</a:t>
            </a:fld>
            <a:endParaRPr lang="en-I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3A006B-4330-44AA-B68E-4C008E120DA8}" type="datetimeFigureOut">
              <a:rPr lang="en-IN" smtClean="0"/>
              <a:t>24-01-2026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C251E8B-F719-432A-946F-39B52593CDA6}" type="slidenum">
              <a:rPr lang="en-IN" smtClean="0"/>
              <a:t>‹#›</a:t>
            </a:fld>
            <a:endParaRPr lang="en-I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3A006B-4330-44AA-B68E-4C008E120DA8}" type="datetimeFigureOut">
              <a:rPr lang="en-IN" smtClean="0"/>
              <a:t>24-01-2026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C251E8B-F719-432A-946F-39B52593CDA6}" type="slidenum">
              <a:rPr lang="en-IN" smtClean="0"/>
              <a:t>‹#›</a:t>
            </a:fld>
            <a:endParaRPr lang="en-I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3A006B-4330-44AA-B68E-4C008E120DA8}" type="datetimeFigureOut">
              <a:rPr lang="en-IN" smtClean="0"/>
              <a:t>24-01-2026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C251E8B-F719-432A-946F-39B52593CDA6}" type="slidenum">
              <a:rPr lang="en-IN" smtClean="0"/>
              <a:t>‹#›</a:t>
            </a:fld>
            <a:endParaRPr lang="en-I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3A006B-4330-44AA-B68E-4C008E120DA8}" type="datetimeFigureOut">
              <a:rPr lang="en-IN" smtClean="0"/>
              <a:t>24-01-2026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251E8B-F719-432A-946F-39B52593CDA6}" type="slidenum">
              <a:rPr lang="en-IN" smtClean="0"/>
              <a:t>‹#›</a:t>
            </a:fld>
            <a:endParaRPr lang="en-I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3A006B-4330-44AA-B68E-4C008E120DA8}" type="datetimeFigureOut">
              <a:rPr lang="en-IN" smtClean="0"/>
              <a:t>24-01-2026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251E8B-F719-432A-946F-39B52593CDA6}"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panose="020B0604020202020204"/>
              </a:rPr>
              <a:t>”</a:t>
            </a:r>
            <a:endParaRPr lang="en-US" dirty="0">
              <a:solidFill>
                <a:schemeClr val="accent1">
                  <a:lumMod val="60000"/>
                  <a:lumOff val="40000"/>
                </a:schemeClr>
              </a:solidFill>
              <a:latin typeface="Arial" panose="020B0604020202020204"/>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3A006B-4330-44AA-B68E-4C008E120DA8}" type="datetimeFigureOut">
              <a:rPr lang="en-IN" smtClean="0"/>
              <a:t>24-01-2026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251E8B-F719-432A-946F-39B52593CDA6}" type="slidenum">
              <a:rPr lang="en-IN" smtClean="0"/>
              <a:t>‹#›</a:t>
            </a:fld>
            <a:endParaRPr lang="en-I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3A006B-4330-44AA-B68E-4C008E120DA8}" type="datetimeFigureOut">
              <a:rPr lang="en-IN" smtClean="0"/>
              <a:t>24-01-2026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251E8B-F719-432A-946F-39B52593CDA6}"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3A006B-4330-44AA-B68E-4C008E120DA8}" type="datetimeFigureOut">
              <a:rPr lang="en-IN" smtClean="0"/>
              <a:t>24-01-2026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251E8B-F719-432A-946F-39B52593CDA6}" type="slidenum">
              <a:rPr lang="en-IN" smtClean="0"/>
              <a:t>‹#›</a:t>
            </a:fld>
            <a:endParaRPr lang="en-I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3A006B-4330-44AA-B68E-4C008E120DA8}" type="datetimeFigureOut">
              <a:rPr lang="en-IN" smtClean="0"/>
              <a:t>24-01-2026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251E8B-F719-432A-946F-39B52593CDA6}" type="slidenum">
              <a:rPr lang="en-IN" smtClean="0"/>
              <a:t>‹#›</a:t>
            </a:fld>
            <a:endParaRPr lang="en-I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3A006B-4330-44AA-B68E-4C008E120DA8}" type="datetimeFigureOut">
              <a:rPr lang="en-IN" smtClean="0"/>
              <a:t>24-01-2026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251E8B-F719-432A-946F-39B52593CDA6}"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A3A006B-4330-44AA-B68E-4C008E120DA8}" type="datetimeFigureOut">
              <a:rPr lang="en-IN" smtClean="0"/>
              <a:t>24-01-2026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C251E8B-F719-432A-946F-39B52593CDA6}"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A3A006B-4330-44AA-B68E-4C008E120DA8}" type="datetimeFigureOut">
              <a:rPr lang="en-IN" smtClean="0"/>
              <a:t>24-01-2026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C251E8B-F719-432A-946F-39B52593CDA6}"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hyperlink" Target="https://www.loom.com/share/0a9f132c0d0940aea5ab89de3880fb83" TargetMode="External"/><Relationship Id="rId2" Type="http://schemas.openxmlformats.org/officeDocument/2006/relationships/hyperlink" Target="https://www.loom.com/share/ad380637b77f4fc18c4f09aa7427adf5" TargetMode="Externa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65583" y="496197"/>
            <a:ext cx="9144000" cy="2387600"/>
          </a:xfrm>
          <a:effectLst>
            <a:outerShdw blurRad="63500" sx="102000" sy="102000" algn="ctr"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a:lstStyle/>
          <a:p>
            <a:r>
              <a:rPr lang="en-US" dirty="0"/>
              <a:t> Logistics Optimization for Delivery Routes of DHL</a:t>
            </a:r>
            <a:endParaRPr lang="en-IN" dirty="0"/>
          </a:p>
        </p:txBody>
      </p:sp>
      <p:sp>
        <p:nvSpPr>
          <p:cNvPr id="3" name="Subtitle 2"/>
          <p:cNvSpPr>
            <a:spLocks noGrp="1"/>
          </p:cNvSpPr>
          <p:nvPr>
            <p:ph type="subTitle" idx="1"/>
          </p:nvPr>
        </p:nvSpPr>
        <p:spPr>
          <a:xfrm>
            <a:off x="1265583" y="3255653"/>
            <a:ext cx="9144000" cy="1437101"/>
          </a:xfrm>
          <a:solidFill>
            <a:srgbClr val="92D050"/>
          </a:solidFill>
          <a:ln>
            <a:solidFill>
              <a:srgbClr val="FF0000"/>
            </a:solidFill>
          </a:ln>
          <a:effectLst>
            <a:outerShdw blurRad="63500" sx="102000" sy="102000" algn="ctr" rotWithShape="0">
              <a:prstClr val="black">
                <a:alpha val="40000"/>
              </a:prstClr>
            </a:outerShdw>
          </a:effectLst>
        </p:spPr>
        <p:txBody>
          <a:bodyPr/>
          <a:lstStyle/>
          <a:p>
            <a:r>
              <a:rPr lang="en-IN" dirty="0"/>
              <a:t>SQL Analytics Project</a:t>
            </a:r>
          </a:p>
          <a:p>
            <a:pPr algn="l"/>
            <a:r>
              <a:rPr lang="en-US" dirty="0"/>
              <a:t>                                           Name: Ananta Kumar Nayak  </a:t>
            </a:r>
          </a:p>
          <a:p>
            <a:pPr algn="l"/>
            <a:r>
              <a:rPr lang="en-US" dirty="0"/>
              <a:t>                        Course: Data Science (Internshala) | Date: Jan 2026</a:t>
            </a:r>
          </a:p>
          <a:p>
            <a:pPr algn="l"/>
            <a:endParaRPr lang="en-IN" dirty="0"/>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8965"/>
            <a:ext cx="4171122" cy="407505"/>
          </a:xfrm>
          <a:effectLst>
            <a:outerShdw blurRad="50800" dist="38100" dir="16200000" rotWithShape="0">
              <a:prstClr val="black">
                <a:alpha val="40000"/>
              </a:prstClr>
            </a:outerShdw>
          </a:effectLst>
        </p:spPr>
        <p:txBody>
          <a:bodyPr>
            <a:noAutofit/>
          </a:bodyPr>
          <a:lstStyle/>
          <a:p>
            <a:r>
              <a:rPr lang="en-IN" sz="2400" b="1" u="sng" dirty="0"/>
              <a:t>Project Overview</a:t>
            </a:r>
          </a:p>
        </p:txBody>
      </p:sp>
      <p:sp>
        <p:nvSpPr>
          <p:cNvPr id="3" name="Content Placeholder 2"/>
          <p:cNvSpPr>
            <a:spLocks noGrp="1"/>
          </p:cNvSpPr>
          <p:nvPr>
            <p:ph idx="1"/>
          </p:nvPr>
        </p:nvSpPr>
        <p:spPr>
          <a:xfrm>
            <a:off x="271668" y="745435"/>
            <a:ext cx="11079146" cy="5757379"/>
          </a:xfrm>
          <a:effectLst>
            <a:outerShdw blurRad="50800" dist="38100" dir="5400000" algn="t" rotWithShape="0">
              <a:prstClr val="black">
                <a:alpha val="40000"/>
              </a:prstClr>
            </a:outerShdw>
          </a:effectLst>
        </p:spPr>
        <p:txBody>
          <a:bodyPr>
            <a:normAutofit/>
          </a:bodyPr>
          <a:lstStyle/>
          <a:p>
            <a:r>
              <a:rPr lang="en-US" sz="2400" dirty="0"/>
              <a:t>DHL operates a global logistics network with multiple routes, warehouses, and delivery agents.</a:t>
            </a:r>
          </a:p>
          <a:p>
            <a:endParaRPr lang="en-US" sz="2400" dirty="0"/>
          </a:p>
          <a:p>
            <a:r>
              <a:rPr lang="en-US" sz="2400" dirty="0"/>
              <a:t>Delays can occur due to route congestion, customs, weather, and last-mile issues.</a:t>
            </a:r>
          </a:p>
          <a:p>
            <a:endParaRPr lang="en-US" sz="2400" dirty="0"/>
          </a:p>
          <a:p>
            <a:r>
              <a:rPr lang="en-US" sz="2400" dirty="0"/>
              <a:t>This project uses SQL to analyze shipment data and identify:</a:t>
            </a:r>
          </a:p>
          <a:p>
            <a:pPr marL="0" indent="0">
              <a:buNone/>
            </a:pPr>
            <a:r>
              <a:rPr lang="en-US" sz="2400" dirty="0"/>
              <a:t>                                                   a. Delay patterns</a:t>
            </a:r>
          </a:p>
          <a:p>
            <a:pPr marL="0" indent="0">
              <a:buNone/>
            </a:pPr>
            <a:r>
              <a:rPr lang="en-US" sz="2400" dirty="0"/>
              <a:t>                                                   b. Inefficient Routes</a:t>
            </a:r>
          </a:p>
          <a:p>
            <a:pPr marL="0" indent="0">
              <a:buNone/>
            </a:pPr>
            <a:r>
              <a:rPr lang="en-US" sz="2400" dirty="0"/>
              <a:t>                                                   c. Warehouse and agent performance issue</a:t>
            </a:r>
          </a:p>
          <a:p>
            <a:pPr marL="0" indent="0">
              <a:buNone/>
            </a:pPr>
            <a:endParaRPr lang="en-US" sz="2400" dirty="0"/>
          </a:p>
          <a:p>
            <a:r>
              <a:rPr lang="en-US" sz="2400" dirty="0"/>
              <a:t>The goal is to improve on-time delivery and operational efficiency. </a:t>
            </a:r>
          </a:p>
          <a:p>
            <a:endParaRPr lang="en-US" sz="2400" dirty="0"/>
          </a:p>
          <a:p>
            <a:endParaRPr lang="en-US" sz="2400" dirty="0"/>
          </a:p>
          <a:p>
            <a:pPr marL="0" indent="0" algn="ctr">
              <a:buNone/>
            </a:pPr>
            <a:endParaRPr lang="en-IN" sz="2400" dirty="0"/>
          </a:p>
        </p:txBody>
      </p:sp>
      <p:sp>
        <p:nvSpPr>
          <p:cNvPr id="6" name="Rectangle 3"/>
          <p:cNvSpPr>
            <a:spLocks noChangeArrowheads="1"/>
          </p:cNvSpPr>
          <p:nvPr/>
        </p:nvSpPr>
        <p:spPr bwMode="auto">
          <a:xfrm>
            <a:off x="0" y="-322579"/>
            <a:ext cx="262890"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4369904" cy="648666"/>
          </a:xfrm>
          <a:ln>
            <a:noFill/>
          </a:ln>
          <a:effectLst/>
          <a:scene3d>
            <a:camera prst="orthographicFront">
              <a:rot lat="0" lon="0" rev="0"/>
            </a:camera>
            <a:lightRig rig="chilly" dir="t">
              <a:rot lat="0" lon="0" rev="18480000"/>
            </a:lightRig>
          </a:scene3d>
          <a:sp3d prstMaterial="clear">
            <a:bevelT h="63500"/>
          </a:sp3d>
        </p:spPr>
        <p:txBody>
          <a:bodyPr>
            <a:normAutofit/>
          </a:bodyPr>
          <a:lstStyle/>
          <a:p>
            <a:r>
              <a:rPr lang="en-US" sz="2800" b="1" dirty="0"/>
              <a:t>Data set used</a:t>
            </a:r>
            <a:endParaRPr lang="en-IN" sz="2800" b="1" dirty="0"/>
          </a:p>
        </p:txBody>
      </p:sp>
      <p:sp>
        <p:nvSpPr>
          <p:cNvPr id="3" name="Content Placeholder 2"/>
          <p:cNvSpPr>
            <a:spLocks noGrp="1"/>
          </p:cNvSpPr>
          <p:nvPr>
            <p:ph idx="1"/>
          </p:nvPr>
        </p:nvSpPr>
        <p:spPr>
          <a:xfrm>
            <a:off x="838200" y="1341782"/>
            <a:ext cx="5416826" cy="4025348"/>
          </a:xfrm>
          <a:ln>
            <a:no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normAutofit/>
          </a:bodyPr>
          <a:lstStyle/>
          <a:p>
            <a:r>
              <a:rPr lang="en-US" dirty="0"/>
              <a:t>Orders</a:t>
            </a:r>
          </a:p>
          <a:p>
            <a:r>
              <a:rPr lang="en-US" dirty="0"/>
              <a:t>Routes</a:t>
            </a:r>
          </a:p>
          <a:p>
            <a:r>
              <a:rPr lang="en-US" dirty="0"/>
              <a:t>Warehouses</a:t>
            </a:r>
          </a:p>
          <a:p>
            <a:r>
              <a:rPr lang="en-US" dirty="0"/>
              <a:t>Delivery Agents</a:t>
            </a:r>
          </a:p>
          <a:p>
            <a:r>
              <a:rPr lang="en-US" dirty="0"/>
              <a:t>Shipments</a:t>
            </a:r>
          </a:p>
          <a:p>
            <a:pPr marL="0" indent="0">
              <a:buNone/>
            </a:pPr>
            <a:br>
              <a:rPr lang="en-US" dirty="0"/>
            </a:br>
            <a:endParaRPr lang="en-US" dirty="0"/>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9087"/>
            <a:ext cx="9289774" cy="864704"/>
          </a:xfrm>
        </p:spPr>
        <p:txBody>
          <a:bodyPr>
            <a:noAutofit/>
          </a:bodyPr>
          <a:lstStyle/>
          <a:p>
            <a:r>
              <a:rPr lang="en-IN" sz="2800" dirty="0">
                <a:latin typeface="Baskerville Old Face" panose="02020602080505020303" pitchFamily="18" charset="0"/>
              </a:rPr>
              <a:t>TASK 1 (Data cleaning &amp; preparation)</a:t>
            </a:r>
            <a:br>
              <a:rPr lang="en-IN" sz="2800" dirty="0">
                <a:latin typeface="Baskerville Old Face" panose="02020602080505020303" pitchFamily="18" charset="0"/>
              </a:rPr>
            </a:br>
            <a:r>
              <a:rPr lang="en-IN" sz="2800" u="sng" dirty="0">
                <a:latin typeface="Baskerville Old Face" panose="02020602080505020303" pitchFamily="18" charset="0"/>
              </a:rPr>
              <a:t>1.1 </a:t>
            </a:r>
            <a:r>
              <a:rPr lang="en-US" sz="2800" u="sng" dirty="0">
                <a:latin typeface="Aptos" panose="020B0004020202020204" pitchFamily="34" charset="0"/>
              </a:rPr>
              <a:t>Identify and delete duplicate Order_id,Shipment_id</a:t>
            </a:r>
            <a:endParaRPr lang="en-IN" sz="2800" u="sng" dirty="0">
              <a:latin typeface="Aptos" panose="020B0004020202020204" pitchFamily="34" charset="0"/>
            </a:endParaRPr>
          </a:p>
        </p:txBody>
      </p:sp>
      <p:sp>
        <p:nvSpPr>
          <p:cNvPr id="3" name="Content Placeholder 2"/>
          <p:cNvSpPr>
            <a:spLocks noGrp="1"/>
          </p:cNvSpPr>
          <p:nvPr>
            <p:ph idx="1"/>
          </p:nvPr>
        </p:nvSpPr>
        <p:spPr>
          <a:xfrm>
            <a:off x="838200" y="1139825"/>
            <a:ext cx="11049000" cy="5569088"/>
          </a:xfrm>
        </p:spPr>
        <p:txBody>
          <a:bodyPr/>
          <a:lstStyle/>
          <a:p>
            <a:r>
              <a:rPr lang="en-US" sz="2400" dirty="0"/>
              <a:t>SELECT Shipment_ID, COUNT(*) AS total_records FROM shipments GROUP BY Shipment_ID HAVING COUNT(*) &gt; 1;</a:t>
            </a:r>
          </a:p>
          <a:p>
            <a:pPr marL="0" indent="0">
              <a:buNone/>
            </a:pPr>
            <a:r>
              <a:rPr lang="en-US" dirty="0"/>
              <a:t>  </a:t>
            </a:r>
            <a:r>
              <a:rPr lang="en-US" sz="2200" dirty="0"/>
              <a:t>This syntax identify the shipment which have duplicate value from shipment table.</a:t>
            </a:r>
          </a:p>
          <a:p>
            <a:pPr marL="0" indent="0">
              <a:buNone/>
            </a:pPr>
            <a:endParaRPr lang="en-US" sz="2400" dirty="0"/>
          </a:p>
          <a:p>
            <a:pPr marL="0" indent="0">
              <a:buNone/>
            </a:pPr>
            <a:endParaRPr lang="en-US" sz="2400" dirty="0"/>
          </a:p>
          <a:p>
            <a:r>
              <a:rPr lang="en-US" sz="2400" dirty="0"/>
              <a:t>SELECT Order_ID, COUNT(*) AS total_records FROM ordersGROUP BY Order_IDHAVING COUNT(*) &gt; 1;</a:t>
            </a:r>
          </a:p>
          <a:p>
            <a:pPr marL="0" indent="0">
              <a:buNone/>
            </a:pPr>
            <a:r>
              <a:rPr lang="en-US" sz="2400" dirty="0"/>
              <a:t>  </a:t>
            </a:r>
            <a:r>
              <a:rPr lang="en-US" sz="2200" dirty="0"/>
              <a:t>This syntax identify the order id which have duplicate value from orders table.</a:t>
            </a:r>
          </a:p>
          <a:p>
            <a:pPr marL="0" indent="0">
              <a:buNone/>
            </a:pPr>
            <a:endParaRPr lang="en-IN"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78776" y="365108"/>
            <a:ext cx="5946748" cy="2719831"/>
          </a:xfrm>
          <a:prstGeom prst="rect">
            <a:avLst/>
          </a:prstGeom>
          <a:solidFill>
            <a:schemeClr val="accent4">
              <a:lumMod val="40000"/>
              <a:lumOff val="60000"/>
            </a:schemeClr>
          </a:solidFill>
        </p:spPr>
      </p:pic>
      <p:pic>
        <p:nvPicPr>
          <p:cNvPr id="5" name="Picture 4"/>
          <p:cNvPicPr>
            <a:picLocks noChangeAspect="1"/>
          </p:cNvPicPr>
          <p:nvPr/>
        </p:nvPicPr>
        <p:blipFill>
          <a:blip r:embed="rId3"/>
          <a:stretch>
            <a:fillRect/>
          </a:stretch>
        </p:blipFill>
        <p:spPr>
          <a:xfrm>
            <a:off x="6324915" y="365108"/>
            <a:ext cx="4657824" cy="288647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8917" y="31473"/>
            <a:ext cx="9222040" cy="871332"/>
          </a:xfrm>
        </p:spPr>
        <p:txBody>
          <a:bodyPr>
            <a:noAutofit/>
          </a:bodyPr>
          <a:lstStyle/>
          <a:p>
            <a:r>
              <a:rPr lang="en-US" sz="2800" u="sng" dirty="0">
                <a:solidFill>
                  <a:schemeClr val="accent5">
                    <a:lumMod val="75000"/>
                  </a:schemeClr>
                </a:solidFill>
              </a:rPr>
              <a:t>1.2 Replace null or missing delay hours with average delay for the rout_id</a:t>
            </a:r>
            <a:endParaRPr lang="en-IN" sz="2800" u="sng" dirty="0">
              <a:solidFill>
                <a:schemeClr val="accent5">
                  <a:lumMod val="75000"/>
                </a:schemeClr>
              </a:solidFill>
            </a:endParaRPr>
          </a:p>
        </p:txBody>
      </p:sp>
      <p:sp>
        <p:nvSpPr>
          <p:cNvPr id="3" name="Content Placeholder 2"/>
          <p:cNvSpPr>
            <a:spLocks noGrp="1"/>
          </p:cNvSpPr>
          <p:nvPr>
            <p:ph idx="1"/>
          </p:nvPr>
        </p:nvSpPr>
        <p:spPr>
          <a:xfrm>
            <a:off x="418917" y="1077223"/>
            <a:ext cx="10015697" cy="5283820"/>
          </a:xfrm>
        </p:spPr>
        <p:txBody>
          <a:bodyPr/>
          <a:lstStyle/>
          <a:p>
            <a:r>
              <a:rPr lang="en-US" dirty="0"/>
              <a:t>UPDATE shipments s JOIN (SELECT Route_ID, AVG(Delay_Hours) AS avg_delay FROM shipments WHERE Delay_Hours IS NOT NULL GROUP BY Route_ID)r ON s.Route_ID = r.Route_ID SET s.Delay_Hours = r.avg_delay WHERE s.Delay_Hours IS NULL;</a:t>
            </a:r>
          </a:p>
          <a:p>
            <a:r>
              <a:rPr lang="en-US" dirty="0"/>
              <a:t>This syntax find out all value where the delay hour is null from shipments table and for replacing with the average delay for the rout id it joins the shipments table with routes table and perform the aggregation.</a:t>
            </a:r>
          </a:p>
          <a:p>
            <a:r>
              <a:rPr lang="en-US" dirty="0"/>
              <a:t>Since there is no null value so update effect 0 row.</a:t>
            </a:r>
          </a:p>
          <a:p>
            <a:endParaRPr lang="en-US" dirty="0"/>
          </a:p>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7026" y="193787"/>
            <a:ext cx="9640278" cy="492014"/>
          </a:xfrm>
          <a:ln>
            <a:solidFill>
              <a:schemeClr val="accent6">
                <a:lumMod val="40000"/>
                <a:lumOff val="60000"/>
              </a:schemeClr>
            </a:solidFill>
          </a:ln>
        </p:spPr>
        <p:txBody>
          <a:bodyPr>
            <a:noAutofit/>
          </a:bodyPr>
          <a:lstStyle/>
          <a:p>
            <a:r>
              <a:rPr lang="en-US" sz="2800" u="sng" dirty="0">
                <a:solidFill>
                  <a:schemeClr val="accent2">
                    <a:lumMod val="75000"/>
                  </a:schemeClr>
                </a:solidFill>
              </a:rPr>
              <a:t>1.3 Converting all date column to YYYY-MMM-DD HH-MM-SS</a:t>
            </a:r>
            <a:r>
              <a:rPr lang="en-US" sz="2800" dirty="0"/>
              <a:t> </a:t>
            </a:r>
            <a:endParaRPr lang="en-IN" sz="2800" dirty="0"/>
          </a:p>
        </p:txBody>
      </p:sp>
      <p:sp>
        <p:nvSpPr>
          <p:cNvPr id="3" name="Content Placeholder 2"/>
          <p:cNvSpPr>
            <a:spLocks noGrp="1"/>
          </p:cNvSpPr>
          <p:nvPr>
            <p:ph idx="1"/>
          </p:nvPr>
        </p:nvSpPr>
        <p:spPr>
          <a:xfrm>
            <a:off x="597027" y="1087162"/>
            <a:ext cx="9799303" cy="2222568"/>
          </a:xfrm>
        </p:spPr>
        <p:txBody>
          <a:bodyPr/>
          <a:lstStyle/>
          <a:p>
            <a:r>
              <a:rPr lang="en-US" dirty="0"/>
              <a:t>UPDATE orders SET Order_Date = STR_TO_DATE(Order_Date, '%Y-%m-%d %H:%</a:t>
            </a:r>
            <a:r>
              <a:rPr lang="en-US" dirty="0" err="1"/>
              <a:t>i</a:t>
            </a:r>
            <a:r>
              <a:rPr lang="en-US" dirty="0"/>
              <a:t>:%s’);</a:t>
            </a:r>
          </a:p>
          <a:p>
            <a:r>
              <a:rPr lang="en-US" dirty="0"/>
              <a:t>This syntax standardize the order date format from orders table.</a:t>
            </a:r>
          </a:p>
          <a:p>
            <a:r>
              <a:rPr lang="en-US" dirty="0"/>
              <a:t> UPDATE shipments SET Pickup_Date = STR_TO_DATE(Pickup_Date, '%Y-%m-%d %H:%</a:t>
            </a:r>
            <a:r>
              <a:rPr lang="en-US" dirty="0" err="1"/>
              <a:t>i</a:t>
            </a:r>
            <a:r>
              <a:rPr lang="en-US" dirty="0"/>
              <a:t>:%s’);</a:t>
            </a:r>
          </a:p>
          <a:p>
            <a:r>
              <a:rPr lang="en-US" dirty="0"/>
              <a:t>This syntax standardize the shipment date format from shipments table.</a:t>
            </a:r>
          </a:p>
          <a:p>
            <a:endParaRPr lang="en-US" dirty="0"/>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362751"/>
            <a:ext cx="5902370" cy="453887"/>
          </a:xfrm>
        </p:spPr>
        <p:txBody>
          <a:bodyPr>
            <a:noAutofit/>
          </a:bodyPr>
          <a:lstStyle/>
          <a:p>
            <a:r>
              <a:rPr lang="en-IN" sz="2400" u="sng" dirty="0"/>
              <a:t>1.4 Validating Referential Integrity </a:t>
            </a:r>
          </a:p>
        </p:txBody>
      </p:sp>
      <p:sp>
        <p:nvSpPr>
          <p:cNvPr id="3" name="Content Placeholder 2"/>
          <p:cNvSpPr>
            <a:spLocks noGrp="1"/>
          </p:cNvSpPr>
          <p:nvPr>
            <p:ph idx="1"/>
          </p:nvPr>
        </p:nvSpPr>
        <p:spPr>
          <a:xfrm>
            <a:off x="677334" y="918198"/>
            <a:ext cx="10186136" cy="5731080"/>
          </a:xfrm>
        </p:spPr>
        <p:txBody>
          <a:bodyPr/>
          <a:lstStyle/>
          <a:p>
            <a:r>
              <a:rPr lang="en-US" dirty="0"/>
              <a:t>SELECT Shipment_ID, Order_IDFROM shipments WHERE Order_ID IS NULL;</a:t>
            </a:r>
          </a:p>
          <a:p>
            <a:r>
              <a:rPr lang="en-US" dirty="0"/>
              <a:t>SELECT Shipment_ID, Route_IDFROM shipments WHERE Route_ID IS NULL;</a:t>
            </a:r>
          </a:p>
          <a:p>
            <a:r>
              <a:rPr lang="en-US" dirty="0"/>
              <a:t>SELECT Shipment_ID,Warehouse_IDFROM shipments WHERE Warehouse_ID IS NULL;</a:t>
            </a:r>
          </a:p>
          <a:p>
            <a:r>
              <a:rPr lang="en-US" dirty="0"/>
              <a:t>This syntax validating referential integrity by finding out any null order id, route id, </a:t>
            </a:r>
          </a:p>
          <a:p>
            <a:pPr marL="0" indent="0">
              <a:buNone/>
            </a:pPr>
            <a:r>
              <a:rPr lang="en-US" dirty="0"/>
              <a:t> and warehouse id. </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  This are the result table which I get after running the code and no null record found.</a:t>
            </a:r>
          </a:p>
          <a:p>
            <a:endParaRPr lang="en-IN" dirty="0"/>
          </a:p>
        </p:txBody>
      </p:sp>
      <p:pic>
        <p:nvPicPr>
          <p:cNvPr id="5" name="Picture 4"/>
          <p:cNvPicPr>
            <a:picLocks noChangeAspect="1"/>
          </p:cNvPicPr>
          <p:nvPr/>
        </p:nvPicPr>
        <p:blipFill>
          <a:blip r:embed="rId2"/>
          <a:stretch>
            <a:fillRect/>
          </a:stretch>
        </p:blipFill>
        <p:spPr>
          <a:xfrm>
            <a:off x="1167682" y="2978572"/>
            <a:ext cx="2362530" cy="1343212"/>
          </a:xfrm>
          <a:prstGeom prst="rect">
            <a:avLst/>
          </a:prstGeom>
        </p:spPr>
      </p:pic>
      <p:pic>
        <p:nvPicPr>
          <p:cNvPr id="7" name="Picture 6"/>
          <p:cNvPicPr>
            <a:picLocks noChangeAspect="1"/>
          </p:cNvPicPr>
          <p:nvPr/>
        </p:nvPicPr>
        <p:blipFill>
          <a:blip r:embed="rId3"/>
          <a:stretch>
            <a:fillRect/>
          </a:stretch>
        </p:blipFill>
        <p:spPr>
          <a:xfrm>
            <a:off x="4191051" y="2978572"/>
            <a:ext cx="2219635" cy="1314633"/>
          </a:xfrm>
          <a:prstGeom prst="rect">
            <a:avLst/>
          </a:prstGeom>
        </p:spPr>
      </p:pic>
      <p:pic>
        <p:nvPicPr>
          <p:cNvPr id="11" name="Picture 10"/>
          <p:cNvPicPr>
            <a:picLocks noChangeAspect="1"/>
          </p:cNvPicPr>
          <p:nvPr/>
        </p:nvPicPr>
        <p:blipFill>
          <a:blip r:embed="rId4"/>
          <a:stretch>
            <a:fillRect/>
          </a:stretch>
        </p:blipFill>
        <p:spPr>
          <a:xfrm>
            <a:off x="7071525" y="2978572"/>
            <a:ext cx="2724530" cy="134321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0570" y="82118"/>
            <a:ext cx="7829091" cy="834887"/>
          </a:xfrm>
        </p:spPr>
        <p:txBody>
          <a:bodyPr>
            <a:normAutofit fontScale="90000"/>
          </a:bodyPr>
          <a:lstStyle/>
          <a:p>
            <a:r>
              <a:rPr lang="en-US" sz="2700" dirty="0"/>
              <a:t>Task 2 (Delivery Delay Analysis)</a:t>
            </a:r>
            <a:br>
              <a:rPr lang="en-US" sz="2400" dirty="0"/>
            </a:br>
            <a:r>
              <a:rPr lang="en-US" sz="2400" u="sng" dirty="0"/>
              <a:t>2.1 Calculating delivery delay (in hours) for each shipment </a:t>
            </a:r>
            <a:br>
              <a:rPr lang="en-US" sz="2400" dirty="0"/>
            </a:br>
            <a:endParaRPr lang="en-IN" sz="2400" dirty="0"/>
          </a:p>
        </p:txBody>
      </p:sp>
      <p:sp>
        <p:nvSpPr>
          <p:cNvPr id="3" name="Content Placeholder 2"/>
          <p:cNvSpPr>
            <a:spLocks noGrp="1"/>
          </p:cNvSpPr>
          <p:nvPr>
            <p:ph idx="1"/>
          </p:nvPr>
        </p:nvSpPr>
        <p:spPr>
          <a:xfrm>
            <a:off x="390570" y="917005"/>
            <a:ext cx="10045517" cy="5622943"/>
          </a:xfrm>
        </p:spPr>
        <p:txBody>
          <a:bodyPr/>
          <a:lstStyle/>
          <a:p>
            <a:r>
              <a:rPr lang="en-US" dirty="0"/>
              <a:t>ALTER TABLE shipments ADD COLUMN Calculated_Delay_Hours INT;</a:t>
            </a:r>
          </a:p>
          <a:p>
            <a:r>
              <a:rPr lang="en-US" dirty="0"/>
              <a:t>UPDATE shipments SET Calculated_Delay_Hours = TIMESTAMPDIFF(HOUR, Pickup_Date, Delivery_Date);</a:t>
            </a:r>
          </a:p>
          <a:p>
            <a:r>
              <a:rPr lang="en-US" dirty="0"/>
              <a:t>This syntax will alter the shipment table and create a new column called calculated delay hours and update function is updating the value in this by calculating the difference between pickup date and delivery date in hours.</a:t>
            </a:r>
          </a:p>
          <a:p>
            <a:r>
              <a:rPr lang="en-US" dirty="0"/>
              <a:t>SELECT Shipment_ID,calculated_delay_hours AS Actual_Delay_Hours FROM shipments;</a:t>
            </a:r>
          </a:p>
          <a:p>
            <a:r>
              <a:rPr lang="en-US" dirty="0"/>
              <a:t>This syntax is used to see the result.</a:t>
            </a:r>
          </a:p>
          <a:p>
            <a:endParaRPr lang="en-IN" dirty="0"/>
          </a:p>
        </p:txBody>
      </p:sp>
      <p:pic>
        <p:nvPicPr>
          <p:cNvPr id="5" name="Picture 4"/>
          <p:cNvPicPr>
            <a:picLocks noChangeAspect="1"/>
          </p:cNvPicPr>
          <p:nvPr/>
        </p:nvPicPr>
        <p:blipFill>
          <a:blip r:embed="rId2"/>
          <a:stretch>
            <a:fillRect/>
          </a:stretch>
        </p:blipFill>
        <p:spPr>
          <a:xfrm>
            <a:off x="5503333" y="3429000"/>
            <a:ext cx="3945740" cy="269960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8978" y="250135"/>
            <a:ext cx="9520213" cy="515178"/>
          </a:xfrm>
        </p:spPr>
        <p:txBody>
          <a:bodyPr>
            <a:noAutofit/>
          </a:bodyPr>
          <a:lstStyle/>
          <a:p>
            <a:r>
              <a:rPr lang="en-US" sz="2400" u="sng" dirty="0">
                <a:solidFill>
                  <a:schemeClr val="bg2">
                    <a:lumMod val="25000"/>
                  </a:schemeClr>
                </a:solidFill>
              </a:rPr>
              <a:t>2.2 Finding out the Top 10 delayed routes based on average delay hours </a:t>
            </a:r>
            <a:endParaRPr lang="en-IN" sz="2400" u="sng" dirty="0">
              <a:solidFill>
                <a:schemeClr val="bg2">
                  <a:lumMod val="25000"/>
                </a:schemeClr>
              </a:solidFill>
            </a:endParaRPr>
          </a:p>
        </p:txBody>
      </p:sp>
      <p:sp>
        <p:nvSpPr>
          <p:cNvPr id="3" name="Content Placeholder 2"/>
          <p:cNvSpPr>
            <a:spLocks noGrp="1"/>
          </p:cNvSpPr>
          <p:nvPr>
            <p:ph idx="1"/>
          </p:nvPr>
        </p:nvSpPr>
        <p:spPr>
          <a:xfrm>
            <a:off x="408978" y="928137"/>
            <a:ext cx="9599726" cy="5591933"/>
          </a:xfrm>
        </p:spPr>
        <p:txBody>
          <a:bodyPr/>
          <a:lstStyle/>
          <a:p>
            <a:r>
              <a:rPr lang="en-US" dirty="0"/>
              <a:t>SELECT Route_ID,AVG(delay_hours) AS Avg_Delay_Hours FROM shipments GROUP BY Route_ID ORDER BY Avg_Delay_Hours DESC LIMIT 10;</a:t>
            </a:r>
          </a:p>
          <a:p>
            <a:r>
              <a:rPr lang="en-US" dirty="0"/>
              <a:t>This syntax is find out the top 10 routes which have the highest average delay hours.</a:t>
            </a:r>
          </a:p>
          <a:p>
            <a:pPr marL="0" indent="0">
              <a:buNone/>
            </a:pPr>
            <a:r>
              <a:rPr lang="en-US" dirty="0"/>
              <a:t> </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   </a:t>
            </a:r>
          </a:p>
          <a:p>
            <a:pPr marL="0" indent="0">
              <a:buNone/>
            </a:pPr>
            <a:endParaRPr lang="en-IN" dirty="0"/>
          </a:p>
        </p:txBody>
      </p:sp>
      <p:pic>
        <p:nvPicPr>
          <p:cNvPr id="5" name="Picture 4"/>
          <p:cNvPicPr>
            <a:picLocks noChangeAspect="1"/>
          </p:cNvPicPr>
          <p:nvPr/>
        </p:nvPicPr>
        <p:blipFill>
          <a:blip r:embed="rId2"/>
          <a:stretch>
            <a:fillRect/>
          </a:stretch>
        </p:blipFill>
        <p:spPr>
          <a:xfrm>
            <a:off x="1904830" y="2129894"/>
            <a:ext cx="3114431" cy="339424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8977" y="136358"/>
            <a:ext cx="10046987" cy="592995"/>
          </a:xfrm>
        </p:spPr>
        <p:txBody>
          <a:bodyPr>
            <a:noAutofit/>
          </a:bodyPr>
          <a:lstStyle/>
          <a:p>
            <a:r>
              <a:rPr lang="en-US" sz="2400" u="sng" dirty="0">
                <a:solidFill>
                  <a:schemeClr val="accent5">
                    <a:lumMod val="75000"/>
                  </a:schemeClr>
                </a:solidFill>
              </a:rPr>
              <a:t>2.3 By using window functions ranking warehouse on the basis of delay </a:t>
            </a:r>
            <a:endParaRPr lang="en-IN" sz="2400" u="sng" dirty="0">
              <a:solidFill>
                <a:schemeClr val="accent5">
                  <a:lumMod val="75000"/>
                </a:schemeClr>
              </a:solidFill>
            </a:endParaRPr>
          </a:p>
        </p:txBody>
      </p:sp>
      <p:sp>
        <p:nvSpPr>
          <p:cNvPr id="3" name="Content Placeholder 2"/>
          <p:cNvSpPr>
            <a:spLocks noGrp="1"/>
          </p:cNvSpPr>
          <p:nvPr>
            <p:ph idx="1"/>
          </p:nvPr>
        </p:nvSpPr>
        <p:spPr>
          <a:xfrm>
            <a:off x="410452" y="729354"/>
            <a:ext cx="9619605" cy="5611811"/>
          </a:xfrm>
        </p:spPr>
        <p:txBody>
          <a:bodyPr/>
          <a:lstStyle/>
          <a:p>
            <a:r>
              <a:rPr lang="en-US" dirty="0"/>
              <a:t>select shipment_id,warehouse_id,delay_hours, rank()over(partition by warehouse_id order by delay_hours desc) as Delay_rankfrom shipments;</a:t>
            </a:r>
          </a:p>
          <a:p>
            <a:r>
              <a:rPr lang="en-US" dirty="0"/>
              <a:t>In this syntax calculating delay hours for each warehouse and after that arranging in the descending order after that giving rank by using window rank function.</a:t>
            </a:r>
          </a:p>
          <a:p>
            <a:endParaRPr lang="en-IN" dirty="0"/>
          </a:p>
        </p:txBody>
      </p:sp>
      <p:pic>
        <p:nvPicPr>
          <p:cNvPr id="5" name="Picture 4"/>
          <p:cNvPicPr>
            <a:picLocks noChangeAspect="1"/>
          </p:cNvPicPr>
          <p:nvPr/>
        </p:nvPicPr>
        <p:blipFill>
          <a:blip r:embed="rId2"/>
          <a:stretch>
            <a:fillRect/>
          </a:stretch>
        </p:blipFill>
        <p:spPr>
          <a:xfrm>
            <a:off x="2709167" y="2472778"/>
            <a:ext cx="4010585" cy="288647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8247" y="293177"/>
            <a:ext cx="7671536" cy="462197"/>
          </a:xfrm>
        </p:spPr>
        <p:txBody>
          <a:bodyPr>
            <a:normAutofit/>
          </a:bodyPr>
          <a:lstStyle/>
          <a:p>
            <a:r>
              <a:rPr lang="en-US" sz="2400" u="sng" dirty="0"/>
              <a:t>2.4 Identifying the average delay per Delivery Type </a:t>
            </a:r>
            <a:endParaRPr lang="en-IN" sz="2400" u="sng" dirty="0"/>
          </a:p>
        </p:txBody>
      </p:sp>
      <p:sp>
        <p:nvSpPr>
          <p:cNvPr id="3" name="Content Placeholder 2"/>
          <p:cNvSpPr>
            <a:spLocks noGrp="1"/>
          </p:cNvSpPr>
          <p:nvPr>
            <p:ph idx="1"/>
          </p:nvPr>
        </p:nvSpPr>
        <p:spPr>
          <a:xfrm>
            <a:off x="528246" y="1097102"/>
            <a:ext cx="9738875" cy="4707350"/>
          </a:xfrm>
        </p:spPr>
        <p:txBody>
          <a:bodyPr/>
          <a:lstStyle/>
          <a:p>
            <a:r>
              <a:rPr lang="en-US" dirty="0"/>
              <a:t>SELECT o.Delivery_Type,AVG(s.Delay_Hours) AS Avg(Delay_Hours) FROM shipments s JOIN orders o ON s.Order_ID = o.Order_IDGROUP BY o.Delivery_Type;</a:t>
            </a:r>
          </a:p>
          <a:p>
            <a:endParaRPr lang="en-IN" dirty="0"/>
          </a:p>
        </p:txBody>
      </p:sp>
      <p:pic>
        <p:nvPicPr>
          <p:cNvPr id="5" name="Picture 4"/>
          <p:cNvPicPr>
            <a:picLocks noChangeAspect="1"/>
          </p:cNvPicPr>
          <p:nvPr/>
        </p:nvPicPr>
        <p:blipFill>
          <a:blip r:embed="rId2"/>
          <a:stretch>
            <a:fillRect/>
          </a:stretch>
        </p:blipFill>
        <p:spPr>
          <a:xfrm>
            <a:off x="2443543" y="2129577"/>
            <a:ext cx="5186969" cy="190571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0800000" flipV="1">
            <a:off x="3321142" y="293176"/>
            <a:ext cx="3029961" cy="392624"/>
          </a:xfrm>
        </p:spPr>
        <p:txBody>
          <a:bodyPr>
            <a:noAutofit/>
          </a:bodyPr>
          <a:lstStyle/>
          <a:p>
            <a:r>
              <a:rPr lang="en-US" sz="2000" dirty="0"/>
              <a:t>       </a:t>
            </a:r>
            <a:r>
              <a:rPr lang="en-US" sz="2000" u="sng" dirty="0"/>
              <a:t> </a:t>
            </a:r>
            <a:r>
              <a:rPr lang="en-US" sz="2400" u="sng" dirty="0">
                <a:solidFill>
                  <a:schemeClr val="bg2">
                    <a:lumMod val="25000"/>
                  </a:schemeClr>
                </a:solidFill>
              </a:rPr>
              <a:t>Task 2 Visuals</a:t>
            </a:r>
            <a:endParaRPr lang="en-IN" sz="2400" u="sng" dirty="0">
              <a:solidFill>
                <a:schemeClr val="bg2">
                  <a:lumMod val="25000"/>
                </a:schemeClr>
              </a:solidFill>
            </a:endParaRPr>
          </a:p>
        </p:txBody>
      </p:sp>
      <p:pic>
        <p:nvPicPr>
          <p:cNvPr id="5" name="Content Placeholder 4"/>
          <p:cNvPicPr>
            <a:picLocks noGrp="1" noChangeAspect="1"/>
          </p:cNvPicPr>
          <p:nvPr>
            <p:ph idx="1"/>
          </p:nvPr>
        </p:nvPicPr>
        <p:blipFill>
          <a:blip r:embed="rId2"/>
          <a:stretch>
            <a:fillRect/>
          </a:stretch>
        </p:blipFill>
        <p:spPr>
          <a:xfrm>
            <a:off x="329236" y="1207319"/>
            <a:ext cx="5339262" cy="3215594"/>
          </a:xfrm>
          <a:prstGeom prst="rect">
            <a:avLst/>
          </a:prstGeom>
        </p:spPr>
      </p:pic>
      <p:pic>
        <p:nvPicPr>
          <p:cNvPr id="7" name="Picture 6"/>
          <p:cNvPicPr>
            <a:picLocks noChangeAspect="1"/>
          </p:cNvPicPr>
          <p:nvPr/>
        </p:nvPicPr>
        <p:blipFill>
          <a:blip r:embed="rId3"/>
          <a:stretch>
            <a:fillRect/>
          </a:stretch>
        </p:blipFill>
        <p:spPr>
          <a:xfrm>
            <a:off x="5668498" y="1207319"/>
            <a:ext cx="5630987" cy="333411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343" y="261730"/>
            <a:ext cx="8725083" cy="940905"/>
          </a:xfrm>
        </p:spPr>
        <p:txBody>
          <a:bodyPr>
            <a:normAutofit fontScale="90000"/>
          </a:bodyPr>
          <a:lstStyle/>
          <a:p>
            <a:r>
              <a:rPr lang="en-IN" sz="2400" dirty="0"/>
              <a:t>Task 3(Route Optimization Insights)</a:t>
            </a:r>
            <a:br>
              <a:rPr lang="en-IN" sz="2400" dirty="0"/>
            </a:br>
            <a:r>
              <a:rPr lang="en-IN" sz="2400" u="sng" dirty="0"/>
              <a:t>3.1 </a:t>
            </a:r>
            <a:r>
              <a:rPr lang="en-US" sz="2400" u="sng" dirty="0"/>
              <a:t>calculating average transit time (in hours) across all shipments </a:t>
            </a:r>
            <a:br>
              <a:rPr lang="en-IN" sz="2400" dirty="0"/>
            </a:br>
            <a:endParaRPr lang="en-IN" sz="2400" dirty="0"/>
          </a:p>
        </p:txBody>
      </p:sp>
      <p:sp>
        <p:nvSpPr>
          <p:cNvPr id="3" name="Content Placeholder 2"/>
          <p:cNvSpPr>
            <a:spLocks noGrp="1"/>
          </p:cNvSpPr>
          <p:nvPr>
            <p:ph idx="1"/>
          </p:nvPr>
        </p:nvSpPr>
        <p:spPr>
          <a:xfrm>
            <a:off x="438795" y="1202635"/>
            <a:ext cx="9748814" cy="5150241"/>
          </a:xfrm>
        </p:spPr>
        <p:txBody>
          <a:bodyPr/>
          <a:lstStyle/>
          <a:p>
            <a:r>
              <a:rPr lang="en-US" dirty="0"/>
              <a:t>SELECT Route_ID,AVG(Calculated_Delay_Hours) AS Avg_Transit_Time_Hours FROM shipments GROUP BY Route_ID;</a:t>
            </a:r>
          </a:p>
          <a:p>
            <a:r>
              <a:rPr lang="en-US" dirty="0"/>
              <a:t>This syntax calculate avg of calculated delay hours(Difference of pickup date and delivery date) and the aggregation is performed for each route.</a:t>
            </a:r>
          </a:p>
          <a:p>
            <a:endParaRPr lang="en-IN" dirty="0"/>
          </a:p>
        </p:txBody>
      </p:sp>
      <p:pic>
        <p:nvPicPr>
          <p:cNvPr id="7" name="Picture 6">
            <a:extLst>
              <a:ext uri="{FF2B5EF4-FFF2-40B4-BE49-F238E27FC236}">
                <a16:creationId xmlns:a16="http://schemas.microsoft.com/office/drawing/2014/main" id="{BC0883D7-F416-053A-AD88-F0BDC752DFC0}"/>
              </a:ext>
            </a:extLst>
          </p:cNvPr>
          <p:cNvPicPr>
            <a:picLocks noChangeAspect="1"/>
          </p:cNvPicPr>
          <p:nvPr/>
        </p:nvPicPr>
        <p:blipFill>
          <a:blip r:embed="rId2"/>
          <a:stretch>
            <a:fillRect/>
          </a:stretch>
        </p:blipFill>
        <p:spPr>
          <a:xfrm>
            <a:off x="3932795" y="2506180"/>
            <a:ext cx="2815876" cy="422381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4839D-11BC-ACEE-8FDF-B62041C70365}"/>
              </a:ext>
            </a:extLst>
          </p:cNvPr>
          <p:cNvSpPr>
            <a:spLocks noGrp="1"/>
          </p:cNvSpPr>
          <p:nvPr>
            <p:ph type="title"/>
          </p:nvPr>
        </p:nvSpPr>
        <p:spPr>
          <a:xfrm>
            <a:off x="289708" y="202096"/>
            <a:ext cx="5733405" cy="513522"/>
          </a:xfrm>
        </p:spPr>
        <p:txBody>
          <a:bodyPr>
            <a:normAutofit/>
          </a:bodyPr>
          <a:lstStyle/>
          <a:p>
            <a:r>
              <a:rPr lang="en-US" sz="2400" u="sng" dirty="0"/>
              <a:t>3.2 Average delay (in hours) per route </a:t>
            </a:r>
            <a:endParaRPr lang="en-IN" sz="2400" u="sng" dirty="0"/>
          </a:p>
        </p:txBody>
      </p:sp>
      <p:sp>
        <p:nvSpPr>
          <p:cNvPr id="3" name="Content Placeholder 2">
            <a:extLst>
              <a:ext uri="{FF2B5EF4-FFF2-40B4-BE49-F238E27FC236}">
                <a16:creationId xmlns:a16="http://schemas.microsoft.com/office/drawing/2014/main" id="{B2EC7461-B8FB-26C5-AF04-19F2FD041FBD}"/>
              </a:ext>
            </a:extLst>
          </p:cNvPr>
          <p:cNvSpPr>
            <a:spLocks noGrp="1"/>
          </p:cNvSpPr>
          <p:nvPr>
            <p:ph idx="1"/>
          </p:nvPr>
        </p:nvSpPr>
        <p:spPr>
          <a:xfrm>
            <a:off x="301120" y="808867"/>
            <a:ext cx="9669301" cy="5383211"/>
          </a:xfrm>
        </p:spPr>
        <p:txBody>
          <a:bodyPr/>
          <a:lstStyle/>
          <a:p>
            <a:r>
              <a:rPr lang="en-US" dirty="0"/>
              <a:t>SELECT Route_ID,AVG(Delay_Hours) AS Avg_Delay_HoursFROM shipments GROUP BY Route_ID;</a:t>
            </a:r>
          </a:p>
          <a:p>
            <a:r>
              <a:rPr lang="en-US" dirty="0"/>
              <a:t>This syntax calculate the average of delay hours(Difference between delivery date and excepted delivery date) the aggregation performed on the basis of route id.</a:t>
            </a:r>
          </a:p>
          <a:p>
            <a:endParaRPr lang="en-IN" dirty="0"/>
          </a:p>
        </p:txBody>
      </p:sp>
      <p:pic>
        <p:nvPicPr>
          <p:cNvPr id="5" name="Picture 4">
            <a:extLst>
              <a:ext uri="{FF2B5EF4-FFF2-40B4-BE49-F238E27FC236}">
                <a16:creationId xmlns:a16="http://schemas.microsoft.com/office/drawing/2014/main" id="{FBE719FE-FE8E-47F4-D067-3B1FB3486BCF}"/>
              </a:ext>
            </a:extLst>
          </p:cNvPr>
          <p:cNvPicPr>
            <a:picLocks noChangeAspect="1"/>
          </p:cNvPicPr>
          <p:nvPr/>
        </p:nvPicPr>
        <p:blipFill>
          <a:blip r:embed="rId2"/>
          <a:stretch>
            <a:fillRect/>
          </a:stretch>
        </p:blipFill>
        <p:spPr>
          <a:xfrm>
            <a:off x="2672841" y="2241086"/>
            <a:ext cx="2333951" cy="4315427"/>
          </a:xfrm>
          <a:prstGeom prst="rect">
            <a:avLst/>
          </a:prstGeom>
        </p:spPr>
      </p:pic>
    </p:spTree>
    <p:extLst>
      <p:ext uri="{BB962C8B-B14F-4D97-AF65-F5344CB8AC3E}">
        <p14:creationId xmlns:p14="http://schemas.microsoft.com/office/powerpoint/2010/main" val="17233988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51A1F-C613-45C5-277E-740D64CB3E54}"/>
              </a:ext>
            </a:extLst>
          </p:cNvPr>
          <p:cNvSpPr>
            <a:spLocks noGrp="1"/>
          </p:cNvSpPr>
          <p:nvPr>
            <p:ph type="title"/>
          </p:nvPr>
        </p:nvSpPr>
        <p:spPr>
          <a:xfrm>
            <a:off x="289708" y="82827"/>
            <a:ext cx="6309875" cy="493643"/>
          </a:xfrm>
        </p:spPr>
        <p:txBody>
          <a:bodyPr>
            <a:normAutofit fontScale="90000"/>
          </a:bodyPr>
          <a:lstStyle/>
          <a:p>
            <a:r>
              <a:rPr lang="en-IN" sz="2400" u="sng" dirty="0"/>
              <a:t>3.3 Calculating distance-to-time efficiency ratio </a:t>
            </a:r>
          </a:p>
        </p:txBody>
      </p:sp>
      <p:sp>
        <p:nvSpPr>
          <p:cNvPr id="3" name="Content Placeholder 2">
            <a:extLst>
              <a:ext uri="{FF2B5EF4-FFF2-40B4-BE49-F238E27FC236}">
                <a16:creationId xmlns:a16="http://schemas.microsoft.com/office/drawing/2014/main" id="{F6CA85A3-46E1-633B-DFE6-4D1E5970A2BF}"/>
              </a:ext>
            </a:extLst>
          </p:cNvPr>
          <p:cNvSpPr>
            <a:spLocks noGrp="1"/>
          </p:cNvSpPr>
          <p:nvPr>
            <p:ph idx="1"/>
          </p:nvPr>
        </p:nvSpPr>
        <p:spPr>
          <a:xfrm>
            <a:off x="289708" y="576469"/>
            <a:ext cx="10156318" cy="6198703"/>
          </a:xfrm>
        </p:spPr>
        <p:txBody>
          <a:bodyPr/>
          <a:lstStyle/>
          <a:p>
            <a:r>
              <a:rPr lang="en-IN" dirty="0"/>
              <a:t>SELECT r.Route_ID,r.Distance_KM, AVG(s.Calculated_Delay_Hours) AS Avg_Actual_Transit_Time,(r.Distance_KM / AVG(s.Calculated_Delay_Hours)) AS Efficiency_ratio FROM routes r JOIN shipments s  ON r.Route_ID = s.Route_ID GROUP BY r.Route_ID, r.Distance_KM order by Route_ID;</a:t>
            </a:r>
          </a:p>
          <a:p>
            <a:r>
              <a:rPr lang="en-IN" dirty="0"/>
              <a:t>To calculate distance to time efficiency ratio for each route required distance which is available in route table  and the average transit time which is available in the shipments table so by using join both the table is join on the basis of common column which is route id.</a:t>
            </a:r>
          </a:p>
          <a:p>
            <a:endParaRPr lang="en-IN" dirty="0"/>
          </a:p>
        </p:txBody>
      </p:sp>
      <p:pic>
        <p:nvPicPr>
          <p:cNvPr id="5" name="Picture 4">
            <a:extLst>
              <a:ext uri="{FF2B5EF4-FFF2-40B4-BE49-F238E27FC236}">
                <a16:creationId xmlns:a16="http://schemas.microsoft.com/office/drawing/2014/main" id="{E20FD802-59F1-7F6C-C578-89AEC3B9BAF8}"/>
              </a:ext>
            </a:extLst>
          </p:cNvPr>
          <p:cNvPicPr>
            <a:picLocks noChangeAspect="1"/>
          </p:cNvPicPr>
          <p:nvPr/>
        </p:nvPicPr>
        <p:blipFill>
          <a:blip r:embed="rId2"/>
          <a:stretch>
            <a:fillRect/>
          </a:stretch>
        </p:blipFill>
        <p:spPr>
          <a:xfrm>
            <a:off x="3331142" y="2782568"/>
            <a:ext cx="4222597" cy="3831773"/>
          </a:xfrm>
          <a:prstGeom prst="rect">
            <a:avLst/>
          </a:prstGeom>
        </p:spPr>
      </p:pic>
    </p:spTree>
    <p:extLst>
      <p:ext uri="{BB962C8B-B14F-4D97-AF65-F5344CB8AC3E}">
        <p14:creationId xmlns:p14="http://schemas.microsoft.com/office/powerpoint/2010/main" val="29372949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217A6-1522-B99E-1D54-3D03634CADF7}"/>
              </a:ext>
            </a:extLst>
          </p:cNvPr>
          <p:cNvSpPr>
            <a:spLocks noGrp="1"/>
          </p:cNvSpPr>
          <p:nvPr>
            <p:ph type="title"/>
          </p:nvPr>
        </p:nvSpPr>
        <p:spPr>
          <a:xfrm>
            <a:off x="418916" y="142462"/>
            <a:ext cx="6916161" cy="443948"/>
          </a:xfrm>
        </p:spPr>
        <p:txBody>
          <a:bodyPr>
            <a:noAutofit/>
          </a:bodyPr>
          <a:lstStyle/>
          <a:p>
            <a:r>
              <a:rPr lang="en-US" sz="2400" u="sng" dirty="0"/>
              <a:t>3.4 Top 3 routes with the worst efficiency ratio </a:t>
            </a:r>
            <a:endParaRPr lang="en-IN" sz="2400" u="sng" dirty="0"/>
          </a:p>
        </p:txBody>
      </p:sp>
      <p:sp>
        <p:nvSpPr>
          <p:cNvPr id="3" name="Content Placeholder 2">
            <a:extLst>
              <a:ext uri="{FF2B5EF4-FFF2-40B4-BE49-F238E27FC236}">
                <a16:creationId xmlns:a16="http://schemas.microsoft.com/office/drawing/2014/main" id="{EDE833CC-6617-3FCB-0BBA-84ECDFC5C13F}"/>
              </a:ext>
            </a:extLst>
          </p:cNvPr>
          <p:cNvSpPr>
            <a:spLocks noGrp="1"/>
          </p:cNvSpPr>
          <p:nvPr>
            <p:ph idx="1"/>
          </p:nvPr>
        </p:nvSpPr>
        <p:spPr>
          <a:xfrm>
            <a:off x="418917" y="719415"/>
            <a:ext cx="9738874" cy="5840411"/>
          </a:xfrm>
        </p:spPr>
        <p:txBody>
          <a:bodyPr/>
          <a:lstStyle/>
          <a:p>
            <a:r>
              <a:rPr lang="en-IN" dirty="0"/>
              <a:t>SELECT r.Route_ID,r.Distance_KM,AVG(s.Calculated_Delay_Hours) AS Avg_Actual_Transit_Time,(r.Distance_KM / AVG(s.Calculated_Delay_Hours)) AS Efficiency_ratioFROM routes r JOIN shipments s  ON r.Route_ID = s.Route_ID GROUP BY r.Route_ID, r.Distance_KM order by Efficiency_ratio limit 3;</a:t>
            </a:r>
          </a:p>
          <a:p>
            <a:r>
              <a:rPr lang="en-IN" dirty="0"/>
              <a:t>In this task also use the same aggregation which is used in previous task to calculate efficiency ratio after that arranging the ratio in ascending order and to calculate top 3 use limit function.</a:t>
            </a:r>
          </a:p>
          <a:p>
            <a:endParaRPr lang="en-IN" dirty="0"/>
          </a:p>
        </p:txBody>
      </p:sp>
      <p:pic>
        <p:nvPicPr>
          <p:cNvPr id="5" name="Picture 4">
            <a:extLst>
              <a:ext uri="{FF2B5EF4-FFF2-40B4-BE49-F238E27FC236}">
                <a16:creationId xmlns:a16="http://schemas.microsoft.com/office/drawing/2014/main" id="{1E201A5B-BA77-3AAB-EA7A-1111A14B9F9C}"/>
              </a:ext>
            </a:extLst>
          </p:cNvPr>
          <p:cNvPicPr>
            <a:picLocks noChangeAspect="1"/>
          </p:cNvPicPr>
          <p:nvPr/>
        </p:nvPicPr>
        <p:blipFill>
          <a:blip r:embed="rId2"/>
          <a:stretch>
            <a:fillRect/>
          </a:stretch>
        </p:blipFill>
        <p:spPr>
          <a:xfrm>
            <a:off x="1862214" y="3230568"/>
            <a:ext cx="6374244" cy="1232102"/>
          </a:xfrm>
          <a:prstGeom prst="rect">
            <a:avLst/>
          </a:prstGeom>
        </p:spPr>
      </p:pic>
    </p:spTree>
    <p:extLst>
      <p:ext uri="{BB962C8B-B14F-4D97-AF65-F5344CB8AC3E}">
        <p14:creationId xmlns:p14="http://schemas.microsoft.com/office/powerpoint/2010/main" val="1140184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FB5C2-89EF-7120-42F8-C2DE61BB376B}"/>
              </a:ext>
            </a:extLst>
          </p:cNvPr>
          <p:cNvSpPr>
            <a:spLocks noGrp="1"/>
          </p:cNvSpPr>
          <p:nvPr>
            <p:ph type="title"/>
          </p:nvPr>
        </p:nvSpPr>
        <p:spPr>
          <a:xfrm>
            <a:off x="528247" y="162338"/>
            <a:ext cx="10384918" cy="612913"/>
          </a:xfrm>
        </p:spPr>
        <p:txBody>
          <a:bodyPr>
            <a:noAutofit/>
          </a:bodyPr>
          <a:lstStyle/>
          <a:p>
            <a:r>
              <a:rPr lang="en-US" sz="2400" u="sng" dirty="0">
                <a:solidFill>
                  <a:schemeClr val="accent5">
                    <a:lumMod val="50000"/>
                  </a:schemeClr>
                </a:solidFill>
              </a:rPr>
              <a:t>3.5 Routes with &gt;20% of shipments delayed beyond expected transit time </a:t>
            </a:r>
            <a:endParaRPr lang="en-IN" sz="2400" u="sng" dirty="0">
              <a:solidFill>
                <a:schemeClr val="accent5">
                  <a:lumMod val="50000"/>
                </a:schemeClr>
              </a:solidFill>
            </a:endParaRPr>
          </a:p>
        </p:txBody>
      </p:sp>
      <p:sp>
        <p:nvSpPr>
          <p:cNvPr id="3" name="Content Placeholder 2">
            <a:extLst>
              <a:ext uri="{FF2B5EF4-FFF2-40B4-BE49-F238E27FC236}">
                <a16:creationId xmlns:a16="http://schemas.microsoft.com/office/drawing/2014/main" id="{91EBDE17-C57C-D176-2B8A-C38B47B8D609}"/>
              </a:ext>
            </a:extLst>
          </p:cNvPr>
          <p:cNvSpPr>
            <a:spLocks noGrp="1"/>
          </p:cNvSpPr>
          <p:nvPr>
            <p:ph idx="1"/>
          </p:nvPr>
        </p:nvSpPr>
        <p:spPr>
          <a:xfrm>
            <a:off x="569477" y="775251"/>
            <a:ext cx="9599726" cy="5482603"/>
          </a:xfrm>
        </p:spPr>
        <p:txBody>
          <a:bodyPr/>
          <a:lstStyle/>
          <a:p>
            <a:r>
              <a:rPr lang="en-US" dirty="0"/>
              <a:t>SELECT Route_ID,COUNT(*) AS Total_Shipments,COUNT(CASE WHEN Delay_Hours &gt; 0 THEN 1 END) AS Delayed_Shipments,(COUNT(CASE WHEN Delay_Hours &gt; 0 THEN 1 END) * 100.0 / COUNT(*)) AS Delay_PercentageFROM shipments GROUP BY Route_ID HAVING Delay_Percentage &gt; 20;</a:t>
            </a:r>
          </a:p>
          <a:p>
            <a:r>
              <a:rPr lang="en-US" dirty="0"/>
              <a:t>In this task first I have to calculate delayed shipments by using count and case it count all the shipment where delay hours is 0 after that calculate the delayed percentage by dividing the delayed shipments with total shipments and use having to use the condition which is delay percentage &gt;20.</a:t>
            </a:r>
          </a:p>
          <a:p>
            <a:endParaRPr lang="en-IN" dirty="0"/>
          </a:p>
        </p:txBody>
      </p:sp>
      <p:pic>
        <p:nvPicPr>
          <p:cNvPr id="7" name="Picture 6">
            <a:extLst>
              <a:ext uri="{FF2B5EF4-FFF2-40B4-BE49-F238E27FC236}">
                <a16:creationId xmlns:a16="http://schemas.microsoft.com/office/drawing/2014/main" id="{230ED4DA-22F9-C75E-ECDC-B4752DA313D6}"/>
              </a:ext>
            </a:extLst>
          </p:cNvPr>
          <p:cNvPicPr>
            <a:picLocks noChangeAspect="1"/>
          </p:cNvPicPr>
          <p:nvPr/>
        </p:nvPicPr>
        <p:blipFill>
          <a:blip r:embed="rId2"/>
          <a:stretch>
            <a:fillRect/>
          </a:stretch>
        </p:blipFill>
        <p:spPr>
          <a:xfrm>
            <a:off x="5279888" y="2928730"/>
            <a:ext cx="4121370" cy="3766932"/>
          </a:xfrm>
          <a:prstGeom prst="rect">
            <a:avLst/>
          </a:prstGeom>
        </p:spPr>
      </p:pic>
    </p:spTree>
    <p:extLst>
      <p:ext uri="{BB962C8B-B14F-4D97-AF65-F5344CB8AC3E}">
        <p14:creationId xmlns:p14="http://schemas.microsoft.com/office/powerpoint/2010/main" val="32206233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8EF03-00AD-22D8-23BF-5CF639668C49}"/>
              </a:ext>
            </a:extLst>
          </p:cNvPr>
          <p:cNvSpPr>
            <a:spLocks noGrp="1"/>
          </p:cNvSpPr>
          <p:nvPr>
            <p:ph type="title"/>
          </p:nvPr>
        </p:nvSpPr>
        <p:spPr>
          <a:xfrm>
            <a:off x="359282" y="162339"/>
            <a:ext cx="6856527" cy="414130"/>
          </a:xfrm>
        </p:spPr>
        <p:txBody>
          <a:bodyPr>
            <a:noAutofit/>
          </a:bodyPr>
          <a:lstStyle/>
          <a:p>
            <a:r>
              <a:rPr lang="en-IN" sz="2400" u="sng" dirty="0"/>
              <a:t>3.6 Recommendation </a:t>
            </a:r>
          </a:p>
        </p:txBody>
      </p:sp>
      <p:sp>
        <p:nvSpPr>
          <p:cNvPr id="3" name="Content Placeholder 2">
            <a:extLst>
              <a:ext uri="{FF2B5EF4-FFF2-40B4-BE49-F238E27FC236}">
                <a16:creationId xmlns:a16="http://schemas.microsoft.com/office/drawing/2014/main" id="{B01A6DC3-E366-60A1-1EEB-DE9586A1131C}"/>
              </a:ext>
            </a:extLst>
          </p:cNvPr>
          <p:cNvSpPr>
            <a:spLocks noGrp="1"/>
          </p:cNvSpPr>
          <p:nvPr>
            <p:ph idx="1"/>
          </p:nvPr>
        </p:nvSpPr>
        <p:spPr>
          <a:xfrm>
            <a:off x="390572" y="739294"/>
            <a:ext cx="9697645" cy="5956368"/>
          </a:xfrm>
        </p:spPr>
        <p:txBody>
          <a:bodyPr/>
          <a:lstStyle/>
          <a:p>
            <a:r>
              <a:rPr lang="en-US" dirty="0"/>
              <a:t>Routes with the lowest distance-to-time efficiency ratio and highest average delay should be prioritized for optimization.</a:t>
            </a:r>
          </a:p>
          <a:p>
            <a:r>
              <a:rPr lang="en-US" dirty="0"/>
              <a:t>Routes where more then 20% shipments are late may have traffic, customs, or capacity problems.</a:t>
            </a:r>
          </a:p>
          <a:p>
            <a:r>
              <a:rPr lang="en-US" dirty="0"/>
              <a:t>Warehouses connected to these routes may be overloaded so to avoid the warehouse issue should be considered for:</a:t>
            </a:r>
          </a:p>
          <a:p>
            <a:pPr algn="ctr"/>
            <a:r>
              <a:rPr lang="en-US" dirty="0"/>
              <a:t>Capacity expansion</a:t>
            </a:r>
          </a:p>
          <a:p>
            <a:pPr algn="ctr"/>
            <a:r>
              <a:rPr lang="en-US" dirty="0"/>
              <a:t>Process automation</a:t>
            </a:r>
          </a:p>
          <a:p>
            <a:r>
              <a:rPr lang="en-IN" dirty="0"/>
              <a:t>To improve performance:</a:t>
            </a:r>
          </a:p>
          <a:p>
            <a:pPr marL="0" indent="0">
              <a:buNone/>
            </a:pPr>
            <a:r>
              <a:rPr lang="en-IN" dirty="0"/>
              <a:t>                                      1.</a:t>
            </a:r>
            <a:r>
              <a:rPr lang="en-US" dirty="0"/>
              <a:t> Use alternative routes with less congestion.</a:t>
            </a:r>
          </a:p>
          <a:p>
            <a:pPr marL="0" indent="0">
              <a:buNone/>
            </a:pPr>
            <a:r>
              <a:rPr lang="en-US" dirty="0"/>
              <a:t>                                      2. Increase number of vehicles or flights on busy routes.</a:t>
            </a:r>
          </a:p>
          <a:p>
            <a:pPr marL="0" indent="0">
              <a:buNone/>
            </a:pPr>
            <a:r>
              <a:rPr lang="en-US" dirty="0"/>
              <a:t>                                      3. Improve coordination at customs and sorting hubs. </a:t>
            </a:r>
            <a:endParaRPr lang="en-IN" dirty="0"/>
          </a:p>
          <a:p>
            <a:endParaRPr lang="en-IN" dirty="0"/>
          </a:p>
          <a:p>
            <a:endParaRPr lang="en-IN" dirty="0"/>
          </a:p>
          <a:p>
            <a:pPr algn="ctr"/>
            <a:endParaRPr lang="en-IN" dirty="0"/>
          </a:p>
          <a:p>
            <a:pPr algn="ctr"/>
            <a:endParaRPr lang="en-IN" dirty="0"/>
          </a:p>
        </p:txBody>
      </p:sp>
    </p:spTree>
    <p:extLst>
      <p:ext uri="{BB962C8B-B14F-4D97-AF65-F5344CB8AC3E}">
        <p14:creationId xmlns:p14="http://schemas.microsoft.com/office/powerpoint/2010/main" val="40102962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D2669-766C-D3A3-CB7C-17B1CEE0D082}"/>
              </a:ext>
            </a:extLst>
          </p:cNvPr>
          <p:cNvSpPr>
            <a:spLocks noGrp="1"/>
          </p:cNvSpPr>
          <p:nvPr>
            <p:ph type="title"/>
          </p:nvPr>
        </p:nvSpPr>
        <p:spPr>
          <a:xfrm>
            <a:off x="2446499" y="192157"/>
            <a:ext cx="5634014" cy="443948"/>
          </a:xfrm>
        </p:spPr>
        <p:txBody>
          <a:bodyPr>
            <a:noAutofit/>
          </a:bodyPr>
          <a:lstStyle/>
          <a:p>
            <a:pPr algn="ctr"/>
            <a:r>
              <a:rPr lang="en-US" sz="2400" u="sng" dirty="0">
                <a:solidFill>
                  <a:srgbClr val="FF0000"/>
                </a:solidFill>
              </a:rPr>
              <a:t>Task 3 Visual’s </a:t>
            </a:r>
            <a:endParaRPr lang="en-IN" sz="2400" u="sng" dirty="0">
              <a:solidFill>
                <a:srgbClr val="FF0000"/>
              </a:solidFill>
            </a:endParaRPr>
          </a:p>
        </p:txBody>
      </p:sp>
      <p:graphicFrame>
        <p:nvGraphicFramePr>
          <p:cNvPr id="4" name="Content Placeholder 3">
            <a:extLst>
              <a:ext uri="{FF2B5EF4-FFF2-40B4-BE49-F238E27FC236}">
                <a16:creationId xmlns:a16="http://schemas.microsoft.com/office/drawing/2014/main" id="{0B8D024F-C062-9BC8-DA90-D12E3EEE922E}"/>
              </a:ext>
            </a:extLst>
          </p:cNvPr>
          <p:cNvGraphicFramePr>
            <a:graphicFrameLocks noGrp="1"/>
          </p:cNvGraphicFramePr>
          <p:nvPr>
            <p:ph idx="1"/>
            <p:extLst>
              <p:ext uri="{D42A27DB-BD31-4B8C-83A1-F6EECF244321}">
                <p14:modId xmlns:p14="http://schemas.microsoft.com/office/powerpoint/2010/main" val="1466215202"/>
              </p:ext>
            </p:extLst>
          </p:nvPr>
        </p:nvGraphicFramePr>
        <p:xfrm>
          <a:off x="250205" y="877956"/>
          <a:ext cx="6279804" cy="409160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6B9903A4-EFE8-F3CF-0C76-D45628153A32}"/>
              </a:ext>
            </a:extLst>
          </p:cNvPr>
          <p:cNvGraphicFramePr>
            <a:graphicFrameLocks/>
          </p:cNvGraphicFramePr>
          <p:nvPr>
            <p:extLst>
              <p:ext uri="{D42A27DB-BD31-4B8C-83A1-F6EECF244321}">
                <p14:modId xmlns:p14="http://schemas.microsoft.com/office/powerpoint/2010/main" val="3611341557"/>
              </p:ext>
            </p:extLst>
          </p:nvPr>
        </p:nvGraphicFramePr>
        <p:xfrm>
          <a:off x="6717527" y="964096"/>
          <a:ext cx="5338638" cy="352839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0356773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82C65-5542-7957-33F0-6331116B7822}"/>
              </a:ext>
            </a:extLst>
          </p:cNvPr>
          <p:cNvSpPr>
            <a:spLocks noGrp="1"/>
          </p:cNvSpPr>
          <p:nvPr>
            <p:ph type="title"/>
          </p:nvPr>
        </p:nvSpPr>
        <p:spPr>
          <a:xfrm>
            <a:off x="458673" y="192157"/>
            <a:ext cx="7393240" cy="712304"/>
          </a:xfrm>
        </p:spPr>
        <p:txBody>
          <a:bodyPr>
            <a:normAutofit fontScale="90000"/>
          </a:bodyPr>
          <a:lstStyle/>
          <a:p>
            <a:r>
              <a:rPr lang="en-IN" sz="2400" dirty="0"/>
              <a:t>Task 4(Warehouse Performance)</a:t>
            </a:r>
            <a:br>
              <a:rPr lang="en-IN" sz="2400" dirty="0"/>
            </a:br>
            <a:r>
              <a:rPr lang="en-IN" sz="2400" u="sng" dirty="0"/>
              <a:t>4.1 </a:t>
            </a:r>
            <a:r>
              <a:rPr lang="en-US" sz="2400" u="sng" dirty="0"/>
              <a:t>Top 3 Warehouses with Highest Average Delay </a:t>
            </a:r>
            <a:endParaRPr lang="en-IN" sz="2400" u="sng" dirty="0"/>
          </a:p>
        </p:txBody>
      </p:sp>
      <p:sp>
        <p:nvSpPr>
          <p:cNvPr id="3" name="Content Placeholder 2">
            <a:extLst>
              <a:ext uri="{FF2B5EF4-FFF2-40B4-BE49-F238E27FC236}">
                <a16:creationId xmlns:a16="http://schemas.microsoft.com/office/drawing/2014/main" id="{8D9B1DD0-7CA8-986B-0788-53294DDF41D4}"/>
              </a:ext>
            </a:extLst>
          </p:cNvPr>
          <p:cNvSpPr>
            <a:spLocks noGrp="1"/>
          </p:cNvSpPr>
          <p:nvPr>
            <p:ph idx="1"/>
          </p:nvPr>
        </p:nvSpPr>
        <p:spPr>
          <a:xfrm>
            <a:off x="458673" y="1156737"/>
            <a:ext cx="9997292" cy="5432906"/>
          </a:xfrm>
        </p:spPr>
        <p:txBody>
          <a:bodyPr/>
          <a:lstStyle/>
          <a:p>
            <a:r>
              <a:rPr lang="en-US" dirty="0"/>
              <a:t>SELECT Warehouse_ID,AVG(Delay_Hours) AS Avg_Delay_Hours FROM shipments GROUP BY Warehouse_ID ORDER BY Avg_Delay_Hours DESC LIMIT 3;</a:t>
            </a:r>
          </a:p>
          <a:p>
            <a:r>
              <a:rPr lang="en-US" dirty="0"/>
              <a:t>In this syntax first find out average of delay hours then grouping on the basis of warehouse id then arrange the average in descending order to find out the highest average delay and at the end put limit 3 to find out the top 3.</a:t>
            </a:r>
          </a:p>
          <a:p>
            <a:endParaRPr lang="en-IN" dirty="0"/>
          </a:p>
        </p:txBody>
      </p:sp>
      <p:pic>
        <p:nvPicPr>
          <p:cNvPr id="7" name="Picture 6">
            <a:extLst>
              <a:ext uri="{FF2B5EF4-FFF2-40B4-BE49-F238E27FC236}">
                <a16:creationId xmlns:a16="http://schemas.microsoft.com/office/drawing/2014/main" id="{F258EE86-9AA0-47CE-C10F-7C1F2A82760A}"/>
              </a:ext>
            </a:extLst>
          </p:cNvPr>
          <p:cNvPicPr>
            <a:picLocks noChangeAspect="1"/>
          </p:cNvPicPr>
          <p:nvPr/>
        </p:nvPicPr>
        <p:blipFill>
          <a:blip r:embed="rId2"/>
          <a:stretch>
            <a:fillRect/>
          </a:stretch>
        </p:blipFill>
        <p:spPr>
          <a:xfrm>
            <a:off x="3371469" y="3046073"/>
            <a:ext cx="3845795" cy="1277449"/>
          </a:xfrm>
          <a:prstGeom prst="rect">
            <a:avLst/>
          </a:prstGeom>
        </p:spPr>
      </p:pic>
    </p:spTree>
    <p:extLst>
      <p:ext uri="{BB962C8B-B14F-4D97-AF65-F5344CB8AC3E}">
        <p14:creationId xmlns:p14="http://schemas.microsoft.com/office/powerpoint/2010/main" val="11139149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3B66C-6AF0-2471-2E9D-B428EB462C8D}"/>
              </a:ext>
            </a:extLst>
          </p:cNvPr>
          <p:cNvSpPr>
            <a:spLocks noGrp="1"/>
          </p:cNvSpPr>
          <p:nvPr>
            <p:ph type="title"/>
          </p:nvPr>
        </p:nvSpPr>
        <p:spPr>
          <a:xfrm>
            <a:off x="528247" y="182217"/>
            <a:ext cx="8784718" cy="543339"/>
          </a:xfrm>
        </p:spPr>
        <p:txBody>
          <a:bodyPr>
            <a:noAutofit/>
          </a:bodyPr>
          <a:lstStyle/>
          <a:p>
            <a:r>
              <a:rPr lang="en-US" sz="2400" u="sng" dirty="0"/>
              <a:t>4.2Total Shipments vs Delayed Shipments for Each Warehouse </a:t>
            </a:r>
            <a:endParaRPr lang="en-IN" sz="2400" u="sng" dirty="0"/>
          </a:p>
        </p:txBody>
      </p:sp>
      <p:sp>
        <p:nvSpPr>
          <p:cNvPr id="3" name="Content Placeholder 2">
            <a:extLst>
              <a:ext uri="{FF2B5EF4-FFF2-40B4-BE49-F238E27FC236}">
                <a16:creationId xmlns:a16="http://schemas.microsoft.com/office/drawing/2014/main" id="{67418091-23C4-22D6-B98D-3C370BA378F7}"/>
              </a:ext>
            </a:extLst>
          </p:cNvPr>
          <p:cNvSpPr>
            <a:spLocks noGrp="1"/>
          </p:cNvSpPr>
          <p:nvPr>
            <p:ph idx="1"/>
          </p:nvPr>
        </p:nvSpPr>
        <p:spPr>
          <a:xfrm>
            <a:off x="528246" y="878441"/>
            <a:ext cx="9391006" cy="5393150"/>
          </a:xfrm>
        </p:spPr>
        <p:txBody>
          <a:bodyPr/>
          <a:lstStyle/>
          <a:p>
            <a:r>
              <a:rPr lang="en-US" dirty="0"/>
              <a:t>SELECT Warehouse_ID,COUNT(*) AS Total_Shipments,COUNT(CASE WHEN Delay_Hours &gt; 0 THEN 1 END) AS Delayed_Shipments FROM shipments GROUP BY Warehouse_ID;</a:t>
            </a:r>
          </a:p>
          <a:p>
            <a:r>
              <a:rPr lang="en-US" dirty="0"/>
              <a:t>In this syntax first I calculate total shipment by using count after that calculating the delayed shipments by using count and case and at last comparing for each warehouse.</a:t>
            </a:r>
          </a:p>
          <a:p>
            <a:endParaRPr lang="en-IN" dirty="0"/>
          </a:p>
        </p:txBody>
      </p:sp>
      <p:pic>
        <p:nvPicPr>
          <p:cNvPr id="5" name="Picture 4">
            <a:extLst>
              <a:ext uri="{FF2B5EF4-FFF2-40B4-BE49-F238E27FC236}">
                <a16:creationId xmlns:a16="http://schemas.microsoft.com/office/drawing/2014/main" id="{7A5DF1C3-41DA-0635-167E-6E31DB08A64E}"/>
              </a:ext>
            </a:extLst>
          </p:cNvPr>
          <p:cNvPicPr>
            <a:picLocks noChangeAspect="1"/>
          </p:cNvPicPr>
          <p:nvPr/>
        </p:nvPicPr>
        <p:blipFill>
          <a:blip r:embed="rId2"/>
          <a:stretch>
            <a:fillRect/>
          </a:stretch>
        </p:blipFill>
        <p:spPr>
          <a:xfrm>
            <a:off x="2960759" y="2539908"/>
            <a:ext cx="4540708" cy="2678136"/>
          </a:xfrm>
          <a:prstGeom prst="rect">
            <a:avLst/>
          </a:prstGeom>
        </p:spPr>
      </p:pic>
    </p:spTree>
    <p:extLst>
      <p:ext uri="{BB962C8B-B14F-4D97-AF65-F5344CB8AC3E}">
        <p14:creationId xmlns:p14="http://schemas.microsoft.com/office/powerpoint/2010/main" val="9869182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297D0-F68D-273E-8CA3-D385AB06855B}"/>
              </a:ext>
            </a:extLst>
          </p:cNvPr>
          <p:cNvSpPr>
            <a:spLocks noGrp="1"/>
          </p:cNvSpPr>
          <p:nvPr>
            <p:ph type="title"/>
          </p:nvPr>
        </p:nvSpPr>
        <p:spPr>
          <a:xfrm>
            <a:off x="478552" y="202096"/>
            <a:ext cx="7890196" cy="533400"/>
          </a:xfrm>
        </p:spPr>
        <p:txBody>
          <a:bodyPr>
            <a:normAutofit fontScale="90000"/>
          </a:bodyPr>
          <a:lstStyle/>
          <a:p>
            <a:r>
              <a:rPr lang="en-US" sz="2400" u="sng" dirty="0"/>
              <a:t>4.3Warehouses Where Average Delay Exceeds Global Average</a:t>
            </a:r>
            <a:r>
              <a:rPr lang="en-US" sz="2400" dirty="0"/>
              <a:t> </a:t>
            </a:r>
            <a:endParaRPr lang="en-IN" sz="2400" dirty="0"/>
          </a:p>
        </p:txBody>
      </p:sp>
      <p:sp>
        <p:nvSpPr>
          <p:cNvPr id="3" name="Content Placeholder 2">
            <a:extLst>
              <a:ext uri="{FF2B5EF4-FFF2-40B4-BE49-F238E27FC236}">
                <a16:creationId xmlns:a16="http://schemas.microsoft.com/office/drawing/2014/main" id="{A5AB95DD-880B-06F4-64DB-A5F4A2515DE3}"/>
              </a:ext>
            </a:extLst>
          </p:cNvPr>
          <p:cNvSpPr>
            <a:spLocks noGrp="1"/>
          </p:cNvSpPr>
          <p:nvPr>
            <p:ph idx="1"/>
          </p:nvPr>
        </p:nvSpPr>
        <p:spPr>
          <a:xfrm>
            <a:off x="478552" y="828745"/>
            <a:ext cx="9669300" cy="5373272"/>
          </a:xfrm>
        </p:spPr>
        <p:txBody>
          <a:bodyPr/>
          <a:lstStyle/>
          <a:p>
            <a:r>
              <a:rPr lang="en-IN" dirty="0"/>
              <a:t>WITH WarehouseAvg AS (SELECT Warehouse_ID,AVG(Delay_Hours) AS Avg_Delay FROM shipments GROUP BY Warehouse_ID),GlobalAvg AS (SELECT AVG(Delay_Hours) AS Global_Avg_Delay FROM shipments) SELECT w.Warehouse_ID,w.Avg_Delay,g.Global_Avg_Delay FROM WarehouseAvg w CROSS JOIN GlobalAvg g WHERE w.Avg_Delay &gt; g.Global_Avg_Delay;</a:t>
            </a:r>
          </a:p>
          <a:p>
            <a:r>
              <a:rPr lang="en-IN" dirty="0"/>
              <a:t>To compare warehouse average with global average first I  create two CTE(common table expression) for each first CTE named as warehouse average where I calculate the average delay hours for each warehouse and the second CTE named as global average, calculate the overall average delay across all shipments. At the end I compared to identify the warehouses whose average delay is higher then the global average.</a:t>
            </a:r>
          </a:p>
          <a:p>
            <a:r>
              <a:rPr lang="en-IN" dirty="0"/>
              <a:t> </a:t>
            </a:r>
          </a:p>
          <a:p>
            <a:endParaRPr lang="en-IN" dirty="0"/>
          </a:p>
        </p:txBody>
      </p:sp>
      <p:pic>
        <p:nvPicPr>
          <p:cNvPr id="7" name="Picture 6">
            <a:extLst>
              <a:ext uri="{FF2B5EF4-FFF2-40B4-BE49-F238E27FC236}">
                <a16:creationId xmlns:a16="http://schemas.microsoft.com/office/drawing/2014/main" id="{75A4351D-B0A1-ED05-3330-A2224934E376}"/>
              </a:ext>
            </a:extLst>
          </p:cNvPr>
          <p:cNvPicPr>
            <a:picLocks noChangeAspect="1"/>
          </p:cNvPicPr>
          <p:nvPr/>
        </p:nvPicPr>
        <p:blipFill>
          <a:blip r:embed="rId2"/>
          <a:stretch>
            <a:fillRect/>
          </a:stretch>
        </p:blipFill>
        <p:spPr>
          <a:xfrm>
            <a:off x="3257725" y="3909697"/>
            <a:ext cx="4683963" cy="2119558"/>
          </a:xfrm>
          <a:prstGeom prst="rect">
            <a:avLst/>
          </a:prstGeom>
        </p:spPr>
      </p:pic>
    </p:spTree>
    <p:extLst>
      <p:ext uri="{BB962C8B-B14F-4D97-AF65-F5344CB8AC3E}">
        <p14:creationId xmlns:p14="http://schemas.microsoft.com/office/powerpoint/2010/main" val="14151191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481E9-BDE4-D145-D0D5-A41E4531ED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D93181-3ECA-CC69-254C-2F493A10A038}"/>
              </a:ext>
            </a:extLst>
          </p:cNvPr>
          <p:cNvSpPr>
            <a:spLocks noGrp="1"/>
          </p:cNvSpPr>
          <p:nvPr>
            <p:ph type="title"/>
          </p:nvPr>
        </p:nvSpPr>
        <p:spPr>
          <a:xfrm>
            <a:off x="478552" y="202096"/>
            <a:ext cx="7890196" cy="533400"/>
          </a:xfrm>
        </p:spPr>
        <p:txBody>
          <a:bodyPr>
            <a:normAutofit/>
          </a:bodyPr>
          <a:lstStyle/>
          <a:p>
            <a:r>
              <a:rPr lang="en-US" sz="2400" u="sng" dirty="0"/>
              <a:t>4.4Ranking Warehouses by On-Time Delivery Percentage </a:t>
            </a:r>
            <a:r>
              <a:rPr lang="en-US" sz="2400" dirty="0"/>
              <a:t> </a:t>
            </a:r>
            <a:endParaRPr lang="en-IN" sz="2400" dirty="0"/>
          </a:p>
        </p:txBody>
      </p:sp>
      <p:sp>
        <p:nvSpPr>
          <p:cNvPr id="3" name="Content Placeholder 2">
            <a:extLst>
              <a:ext uri="{FF2B5EF4-FFF2-40B4-BE49-F238E27FC236}">
                <a16:creationId xmlns:a16="http://schemas.microsoft.com/office/drawing/2014/main" id="{4856B078-481E-C71D-551A-902479CA0699}"/>
              </a:ext>
            </a:extLst>
          </p:cNvPr>
          <p:cNvSpPr>
            <a:spLocks noGrp="1"/>
          </p:cNvSpPr>
          <p:nvPr>
            <p:ph idx="1"/>
          </p:nvPr>
        </p:nvSpPr>
        <p:spPr>
          <a:xfrm>
            <a:off x="478552" y="828745"/>
            <a:ext cx="9669300" cy="5373272"/>
          </a:xfrm>
        </p:spPr>
        <p:txBody>
          <a:bodyPr/>
          <a:lstStyle/>
          <a:p>
            <a:r>
              <a:rPr lang="en-US" dirty="0"/>
              <a:t>SELECT Warehouse_ID,(COUNT(CASE WHEN Delay_Hours = 0 THEN 1 END) * 100.0 / COUNT(*)) AS OnTime_Percentage, RANK() OVER (ORDER BY (COUNT(CASE WHEN Delay_Hours = 0 THEN 1 END) * 100.0 / COUNT(*)) DESC) AS Warehouse_Rank FROM shipments GROUP BY Warehouse_ID;</a:t>
            </a:r>
          </a:p>
          <a:p>
            <a:r>
              <a:rPr lang="en-US" dirty="0"/>
              <a:t>To rank warehouses on-time delivery percentage basis first I am calculating on time delivery percentage after that use RANK function to rank the warehouses.</a:t>
            </a:r>
          </a:p>
          <a:p>
            <a:endParaRPr lang="en-IN" dirty="0"/>
          </a:p>
        </p:txBody>
      </p:sp>
      <p:pic>
        <p:nvPicPr>
          <p:cNvPr id="5" name="Picture 4">
            <a:extLst>
              <a:ext uri="{FF2B5EF4-FFF2-40B4-BE49-F238E27FC236}">
                <a16:creationId xmlns:a16="http://schemas.microsoft.com/office/drawing/2014/main" id="{E5637BBD-EF18-2666-9048-315088611916}"/>
              </a:ext>
            </a:extLst>
          </p:cNvPr>
          <p:cNvPicPr>
            <a:picLocks noChangeAspect="1"/>
          </p:cNvPicPr>
          <p:nvPr/>
        </p:nvPicPr>
        <p:blipFill>
          <a:blip r:embed="rId2"/>
          <a:stretch>
            <a:fillRect/>
          </a:stretch>
        </p:blipFill>
        <p:spPr>
          <a:xfrm>
            <a:off x="2667867" y="2889016"/>
            <a:ext cx="4596755" cy="2686836"/>
          </a:xfrm>
          <a:prstGeom prst="rect">
            <a:avLst/>
          </a:prstGeom>
        </p:spPr>
      </p:pic>
    </p:spTree>
    <p:extLst>
      <p:ext uri="{BB962C8B-B14F-4D97-AF65-F5344CB8AC3E}">
        <p14:creationId xmlns:p14="http://schemas.microsoft.com/office/powerpoint/2010/main" val="25381839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40AA6-6DBB-6BA4-0372-C775FBD85F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BEB901-4020-9EDC-5D85-9398E0D12B0E}"/>
              </a:ext>
            </a:extLst>
          </p:cNvPr>
          <p:cNvSpPr>
            <a:spLocks noGrp="1"/>
          </p:cNvSpPr>
          <p:nvPr>
            <p:ph type="title"/>
          </p:nvPr>
        </p:nvSpPr>
        <p:spPr>
          <a:xfrm>
            <a:off x="478552" y="202096"/>
            <a:ext cx="7890196" cy="533400"/>
          </a:xfrm>
        </p:spPr>
        <p:txBody>
          <a:bodyPr>
            <a:normAutofit/>
          </a:bodyPr>
          <a:lstStyle/>
          <a:p>
            <a:pPr algn="ctr"/>
            <a:r>
              <a:rPr lang="en-US" sz="2400" dirty="0"/>
              <a:t>          </a:t>
            </a:r>
            <a:r>
              <a:rPr lang="en-US" sz="2400" u="sng" dirty="0"/>
              <a:t>Task 4 Visuals  </a:t>
            </a:r>
            <a:r>
              <a:rPr lang="en-US" sz="2400" dirty="0"/>
              <a:t> </a:t>
            </a:r>
            <a:endParaRPr lang="en-IN" sz="2400" dirty="0"/>
          </a:p>
        </p:txBody>
      </p:sp>
      <p:pic>
        <p:nvPicPr>
          <p:cNvPr id="6" name="Content Placeholder 5">
            <a:extLst>
              <a:ext uri="{FF2B5EF4-FFF2-40B4-BE49-F238E27FC236}">
                <a16:creationId xmlns:a16="http://schemas.microsoft.com/office/drawing/2014/main" id="{A665F48D-2C12-BDB9-0576-8F99AE564DDA}"/>
              </a:ext>
            </a:extLst>
          </p:cNvPr>
          <p:cNvPicPr>
            <a:picLocks noGrp="1" noChangeAspect="1"/>
          </p:cNvPicPr>
          <p:nvPr>
            <p:ph idx="1"/>
          </p:nvPr>
        </p:nvPicPr>
        <p:blipFill>
          <a:blip r:embed="rId2"/>
          <a:stretch>
            <a:fillRect/>
          </a:stretch>
        </p:blipFill>
        <p:spPr>
          <a:xfrm>
            <a:off x="0" y="1033670"/>
            <a:ext cx="6173061" cy="3600953"/>
          </a:xfrm>
          <a:prstGeom prst="rect">
            <a:avLst/>
          </a:prstGeom>
        </p:spPr>
      </p:pic>
      <p:pic>
        <p:nvPicPr>
          <p:cNvPr id="8" name="Picture 7">
            <a:extLst>
              <a:ext uri="{FF2B5EF4-FFF2-40B4-BE49-F238E27FC236}">
                <a16:creationId xmlns:a16="http://schemas.microsoft.com/office/drawing/2014/main" id="{FAE778DE-1880-AC5C-18ED-909A23BB760C}"/>
              </a:ext>
            </a:extLst>
          </p:cNvPr>
          <p:cNvPicPr>
            <a:picLocks noChangeAspect="1"/>
          </p:cNvPicPr>
          <p:nvPr/>
        </p:nvPicPr>
        <p:blipFill>
          <a:blip r:embed="rId3"/>
          <a:stretch>
            <a:fillRect/>
          </a:stretch>
        </p:blipFill>
        <p:spPr>
          <a:xfrm>
            <a:off x="6173061" y="1179281"/>
            <a:ext cx="5787603" cy="3309730"/>
          </a:xfrm>
          <a:prstGeom prst="rect">
            <a:avLst/>
          </a:prstGeom>
        </p:spPr>
      </p:pic>
    </p:spTree>
    <p:extLst>
      <p:ext uri="{BB962C8B-B14F-4D97-AF65-F5344CB8AC3E}">
        <p14:creationId xmlns:p14="http://schemas.microsoft.com/office/powerpoint/2010/main" val="39359584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1B77C-2ADB-68FD-012E-FC0E719662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8CCEDC-FCF3-F41A-9BBD-818BEAAC0E06}"/>
              </a:ext>
            </a:extLst>
          </p:cNvPr>
          <p:cNvSpPr>
            <a:spLocks noGrp="1"/>
          </p:cNvSpPr>
          <p:nvPr>
            <p:ph type="title"/>
          </p:nvPr>
        </p:nvSpPr>
        <p:spPr>
          <a:xfrm>
            <a:off x="478551" y="119271"/>
            <a:ext cx="8407031" cy="626164"/>
          </a:xfrm>
        </p:spPr>
        <p:txBody>
          <a:bodyPr>
            <a:normAutofit fontScale="90000"/>
          </a:bodyPr>
          <a:lstStyle/>
          <a:p>
            <a:r>
              <a:rPr lang="en-US" sz="2400" dirty="0"/>
              <a:t>Task 5(Delivery Agent Performance)</a:t>
            </a:r>
            <a:br>
              <a:rPr lang="en-US" sz="2400" dirty="0"/>
            </a:br>
            <a:r>
              <a:rPr lang="en-US" sz="2400" u="sng" dirty="0"/>
              <a:t>5.1 Ranking Delivery Agents (per Route) by On-Time Delivery </a:t>
            </a:r>
            <a:br>
              <a:rPr lang="en-US" sz="2400" dirty="0"/>
            </a:br>
            <a:endParaRPr lang="en-IN" sz="2400" dirty="0"/>
          </a:p>
        </p:txBody>
      </p:sp>
      <p:sp>
        <p:nvSpPr>
          <p:cNvPr id="3" name="Content Placeholder 2">
            <a:extLst>
              <a:ext uri="{FF2B5EF4-FFF2-40B4-BE49-F238E27FC236}">
                <a16:creationId xmlns:a16="http://schemas.microsoft.com/office/drawing/2014/main" id="{D6E218C5-8731-94B9-67D9-6A08A4A2BB1F}"/>
              </a:ext>
            </a:extLst>
          </p:cNvPr>
          <p:cNvSpPr>
            <a:spLocks noGrp="1"/>
          </p:cNvSpPr>
          <p:nvPr>
            <p:ph idx="1"/>
          </p:nvPr>
        </p:nvSpPr>
        <p:spPr>
          <a:xfrm>
            <a:off x="499902" y="977832"/>
            <a:ext cx="9669300" cy="5373272"/>
          </a:xfrm>
        </p:spPr>
        <p:txBody>
          <a:bodyPr/>
          <a:lstStyle/>
          <a:p>
            <a:r>
              <a:rPr lang="en-US" dirty="0"/>
              <a:t>SELECT s.Route_ID,s.Agent_ID,(COUNT(CASE WHEN s.Delay_Hours = 0 THEN 1 END) * 100.0 / COUNT(*)) AS OnTime_Percentage,RANK() OVER (PARTITION BY s.Route_ID ORDER BY (COUNT(CASE WHEN s.Delay_Hours = 0 THEN 1 END) * 100.0 / COUNT(*)) DESC) AS Agent_Rank FROM shipments s GROUP BY s.Route_ID, s.Agent_ID;</a:t>
            </a:r>
          </a:p>
          <a:p>
            <a:r>
              <a:rPr lang="en-US" dirty="0"/>
              <a:t>To ranking delivery agents first, I calculate the on-time delivery percentage then ranking the agents by using window ranking function.</a:t>
            </a:r>
          </a:p>
          <a:p>
            <a:endParaRPr lang="en-IN" dirty="0"/>
          </a:p>
        </p:txBody>
      </p:sp>
      <p:pic>
        <p:nvPicPr>
          <p:cNvPr id="8" name="Picture 7">
            <a:extLst>
              <a:ext uri="{FF2B5EF4-FFF2-40B4-BE49-F238E27FC236}">
                <a16:creationId xmlns:a16="http://schemas.microsoft.com/office/drawing/2014/main" id="{0B5736FE-B6F8-3600-487A-6EDFC6C46608}"/>
              </a:ext>
            </a:extLst>
          </p:cNvPr>
          <p:cNvPicPr>
            <a:picLocks noChangeAspect="1"/>
          </p:cNvPicPr>
          <p:nvPr/>
        </p:nvPicPr>
        <p:blipFill>
          <a:blip r:embed="rId2"/>
          <a:stretch>
            <a:fillRect/>
          </a:stretch>
        </p:blipFill>
        <p:spPr>
          <a:xfrm>
            <a:off x="3972677" y="2847416"/>
            <a:ext cx="3978628" cy="3922722"/>
          </a:xfrm>
          <a:prstGeom prst="rect">
            <a:avLst/>
          </a:prstGeom>
        </p:spPr>
      </p:pic>
    </p:spTree>
    <p:extLst>
      <p:ext uri="{BB962C8B-B14F-4D97-AF65-F5344CB8AC3E}">
        <p14:creationId xmlns:p14="http://schemas.microsoft.com/office/powerpoint/2010/main" val="24952715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A5D7D-8535-F364-DA42-A9765B6EF5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6645DD-9CBE-E17F-5FBF-2CFEEA60CF55}"/>
              </a:ext>
            </a:extLst>
          </p:cNvPr>
          <p:cNvSpPr>
            <a:spLocks noGrp="1"/>
          </p:cNvSpPr>
          <p:nvPr>
            <p:ph type="title"/>
          </p:nvPr>
        </p:nvSpPr>
        <p:spPr>
          <a:xfrm>
            <a:off x="478552" y="119271"/>
            <a:ext cx="8357336" cy="439527"/>
          </a:xfrm>
        </p:spPr>
        <p:txBody>
          <a:bodyPr>
            <a:normAutofit fontScale="90000"/>
          </a:bodyPr>
          <a:lstStyle/>
          <a:p>
            <a:r>
              <a:rPr lang="en-US" sz="2400" u="sng" dirty="0"/>
              <a:t>5.2  Finding agents who's on-time % is below 85%  </a:t>
            </a:r>
            <a:br>
              <a:rPr lang="en-US" sz="2400" dirty="0"/>
            </a:br>
            <a:endParaRPr lang="en-IN" sz="2400" dirty="0"/>
          </a:p>
        </p:txBody>
      </p:sp>
      <p:sp>
        <p:nvSpPr>
          <p:cNvPr id="3" name="Content Placeholder 2">
            <a:extLst>
              <a:ext uri="{FF2B5EF4-FFF2-40B4-BE49-F238E27FC236}">
                <a16:creationId xmlns:a16="http://schemas.microsoft.com/office/drawing/2014/main" id="{D0260428-D626-1B07-12D9-0EDA2DC9ACA6}"/>
              </a:ext>
            </a:extLst>
          </p:cNvPr>
          <p:cNvSpPr>
            <a:spLocks noGrp="1"/>
          </p:cNvSpPr>
          <p:nvPr>
            <p:ph idx="1"/>
          </p:nvPr>
        </p:nvSpPr>
        <p:spPr>
          <a:xfrm>
            <a:off x="478552" y="742364"/>
            <a:ext cx="9669300" cy="5373272"/>
          </a:xfrm>
        </p:spPr>
        <p:txBody>
          <a:bodyPr/>
          <a:lstStyle/>
          <a:p>
            <a:r>
              <a:rPr lang="en-US" dirty="0"/>
              <a:t>SELECT s.Agent_ID,(COUNT(CASE WHEN s.Delay_Hours = 0 THEN 1 END) * 100.0 / COUNT(*)) AS OnTime_Percentage FROM shipments s GROUP BY s.Agent_ID HAVING OnTime_Percentage &lt; 85;</a:t>
            </a:r>
          </a:p>
          <a:p>
            <a:r>
              <a:rPr lang="en-US" dirty="0"/>
              <a:t>In this syntax first, I calculate on-time percentage for each agent then use HAVING to implement the condition which is on-time Percentage &lt; 85.</a:t>
            </a:r>
            <a:endParaRPr lang="en-IN" dirty="0"/>
          </a:p>
        </p:txBody>
      </p:sp>
      <p:pic>
        <p:nvPicPr>
          <p:cNvPr id="5" name="Picture 4">
            <a:extLst>
              <a:ext uri="{FF2B5EF4-FFF2-40B4-BE49-F238E27FC236}">
                <a16:creationId xmlns:a16="http://schemas.microsoft.com/office/drawing/2014/main" id="{40F28A89-5667-8DD0-B06A-D623C3D9FE02}"/>
              </a:ext>
            </a:extLst>
          </p:cNvPr>
          <p:cNvPicPr>
            <a:picLocks noChangeAspect="1"/>
          </p:cNvPicPr>
          <p:nvPr/>
        </p:nvPicPr>
        <p:blipFill>
          <a:blip r:embed="rId2"/>
          <a:stretch>
            <a:fillRect/>
          </a:stretch>
        </p:blipFill>
        <p:spPr>
          <a:xfrm>
            <a:off x="4070016" y="2431497"/>
            <a:ext cx="2486372" cy="3962953"/>
          </a:xfrm>
          <a:prstGeom prst="rect">
            <a:avLst/>
          </a:prstGeom>
        </p:spPr>
      </p:pic>
    </p:spTree>
    <p:extLst>
      <p:ext uri="{BB962C8B-B14F-4D97-AF65-F5344CB8AC3E}">
        <p14:creationId xmlns:p14="http://schemas.microsoft.com/office/powerpoint/2010/main" val="32271108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09F97-5943-CC1D-CD48-37D151AA4F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02B213-17D3-2228-54DB-67ACE999615E}"/>
              </a:ext>
            </a:extLst>
          </p:cNvPr>
          <p:cNvSpPr>
            <a:spLocks noGrp="1"/>
          </p:cNvSpPr>
          <p:nvPr>
            <p:ph type="title"/>
          </p:nvPr>
        </p:nvSpPr>
        <p:spPr>
          <a:xfrm>
            <a:off x="478551" y="119271"/>
            <a:ext cx="9798509" cy="516833"/>
          </a:xfrm>
        </p:spPr>
        <p:txBody>
          <a:bodyPr>
            <a:normAutofit fontScale="90000"/>
          </a:bodyPr>
          <a:lstStyle/>
          <a:p>
            <a:r>
              <a:rPr lang="en-US" sz="2400" u="sng" dirty="0"/>
              <a:t>5.3 Compare Avg Rating &amp; Experience of Top 5 vs Bottom 5 Agents based on on-time delivery% </a:t>
            </a:r>
            <a:br>
              <a:rPr lang="en-US" sz="2400" dirty="0"/>
            </a:br>
            <a:endParaRPr lang="en-IN" sz="2400" dirty="0"/>
          </a:p>
        </p:txBody>
      </p:sp>
      <p:sp>
        <p:nvSpPr>
          <p:cNvPr id="3" name="Content Placeholder 2">
            <a:extLst>
              <a:ext uri="{FF2B5EF4-FFF2-40B4-BE49-F238E27FC236}">
                <a16:creationId xmlns:a16="http://schemas.microsoft.com/office/drawing/2014/main" id="{AD5407F5-968B-7B15-416B-CB488B86FADA}"/>
              </a:ext>
            </a:extLst>
          </p:cNvPr>
          <p:cNvSpPr>
            <a:spLocks noGrp="1"/>
          </p:cNvSpPr>
          <p:nvPr>
            <p:ph idx="1"/>
          </p:nvPr>
        </p:nvSpPr>
        <p:spPr>
          <a:xfrm>
            <a:off x="478550" y="921267"/>
            <a:ext cx="9798509" cy="5678315"/>
          </a:xfrm>
        </p:spPr>
        <p:txBody>
          <a:bodyPr/>
          <a:lstStyle/>
          <a:p>
            <a:r>
              <a:rPr lang="en-US" dirty="0"/>
              <a:t>SELECT 'Top 5 Agents' AS Category,AVG(d.Experience_Years) AS Avg_Experience, AVG(d.Avg_Rating) AS Avg_Rating FROM delivery_agents d JOIN (SELECT Agent_ID FROM shipments GROUP BY Agent_ID      ORDER BY (COUNT(CASE WHEN Delay_Hours = 0 THEN 1 END) * 100.0 / COUNT(*)) DESC LIMIT 5) t      ON d.Agent_ID = t.Agent_ID UNION ALLSELECT 'Bottom 5 Agents' AS Category,AVG(d.Experience_Years) AS Avg_Experience, AVG(d.Avg_Rating) AS Avg_Rating FROM delivery_agents d JOIN (SELECT Agent_ID FROM shipments GROUP BY Agent_ID ORDER BY (COUNT(CASE WHEN Delay_Hours = 0 THEN 1 END) * 100.0 / COUNT(*)) ASC LIMIT 5) b ON d.Agent_ID = b.Agent_ID;</a:t>
            </a:r>
          </a:p>
          <a:p>
            <a:r>
              <a:rPr lang="en-US" dirty="0"/>
              <a:t>To compare the average rating and experience of the top 5 and bottom 5 delivery agents, I used subqueries. First, I selected the top 5 agents based on highest on-time delivery percentage and calculated their average experience and rating. Then, I selected the bottom 5 agents based on lowest on-time delivery percentage and calculated their average experience and rating. This comparison helps to understand the performance difference between high-performing and low-performing agents.</a:t>
            </a:r>
          </a:p>
          <a:p>
            <a:endParaRPr lang="en-US" dirty="0"/>
          </a:p>
          <a:p>
            <a:endParaRPr lang="en-US" dirty="0"/>
          </a:p>
          <a:p>
            <a:endParaRPr lang="en-IN" dirty="0"/>
          </a:p>
        </p:txBody>
      </p:sp>
      <p:pic>
        <p:nvPicPr>
          <p:cNvPr id="8" name="Picture 7">
            <a:extLst>
              <a:ext uri="{FF2B5EF4-FFF2-40B4-BE49-F238E27FC236}">
                <a16:creationId xmlns:a16="http://schemas.microsoft.com/office/drawing/2014/main" id="{34B56B0F-1A5A-EBE1-F0A0-7F547F97CDC4}"/>
              </a:ext>
            </a:extLst>
          </p:cNvPr>
          <p:cNvPicPr>
            <a:picLocks noChangeAspect="1"/>
          </p:cNvPicPr>
          <p:nvPr/>
        </p:nvPicPr>
        <p:blipFill>
          <a:blip r:embed="rId2"/>
          <a:stretch>
            <a:fillRect/>
          </a:stretch>
        </p:blipFill>
        <p:spPr>
          <a:xfrm>
            <a:off x="3203679" y="5223909"/>
            <a:ext cx="5014601" cy="1097378"/>
          </a:xfrm>
          <a:prstGeom prst="rect">
            <a:avLst/>
          </a:prstGeom>
        </p:spPr>
      </p:pic>
    </p:spTree>
    <p:extLst>
      <p:ext uri="{BB962C8B-B14F-4D97-AF65-F5344CB8AC3E}">
        <p14:creationId xmlns:p14="http://schemas.microsoft.com/office/powerpoint/2010/main" val="20661303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A7888-18E9-15D9-00A4-D21129FE42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363C70-84DF-8E98-3115-26D2EEA8B533}"/>
              </a:ext>
            </a:extLst>
          </p:cNvPr>
          <p:cNvSpPr>
            <a:spLocks noGrp="1"/>
          </p:cNvSpPr>
          <p:nvPr>
            <p:ph type="title"/>
          </p:nvPr>
        </p:nvSpPr>
        <p:spPr>
          <a:xfrm>
            <a:off x="460145" y="0"/>
            <a:ext cx="10225892" cy="566529"/>
          </a:xfrm>
        </p:spPr>
        <p:txBody>
          <a:bodyPr>
            <a:normAutofit fontScale="90000"/>
          </a:bodyPr>
          <a:lstStyle/>
          <a:p>
            <a:r>
              <a:rPr lang="en-US" sz="2400" u="sng" dirty="0">
                <a:solidFill>
                  <a:schemeClr val="accent6">
                    <a:lumMod val="50000"/>
                  </a:schemeClr>
                </a:solidFill>
              </a:rPr>
              <a:t>5.4 Suggesting training or workload balancing strategies for low-performing agents</a:t>
            </a:r>
            <a:br>
              <a:rPr lang="en-US" sz="2400" dirty="0"/>
            </a:br>
            <a:endParaRPr lang="en-IN" sz="2400" dirty="0"/>
          </a:p>
        </p:txBody>
      </p:sp>
      <p:sp>
        <p:nvSpPr>
          <p:cNvPr id="3" name="Content Placeholder 2">
            <a:extLst>
              <a:ext uri="{FF2B5EF4-FFF2-40B4-BE49-F238E27FC236}">
                <a16:creationId xmlns:a16="http://schemas.microsoft.com/office/drawing/2014/main" id="{7A25226C-FB43-4878-9577-10CFA81AC592}"/>
              </a:ext>
            </a:extLst>
          </p:cNvPr>
          <p:cNvSpPr>
            <a:spLocks noGrp="1"/>
          </p:cNvSpPr>
          <p:nvPr>
            <p:ph idx="1"/>
          </p:nvPr>
        </p:nvSpPr>
        <p:spPr>
          <a:xfrm>
            <a:off x="460145" y="848259"/>
            <a:ext cx="10096684" cy="5810958"/>
          </a:xfrm>
        </p:spPr>
        <p:txBody>
          <a:bodyPr/>
          <a:lstStyle/>
          <a:p>
            <a:r>
              <a:rPr lang="en-US" dirty="0"/>
              <a:t>Based on the analysis, some delivery agents have a low on-time delivery percentage compared to others.</a:t>
            </a:r>
          </a:p>
          <a:p>
            <a:r>
              <a:rPr lang="en-US" dirty="0"/>
              <a:t>These agents should be given additional training on route planning, time management, and handling peak-hour deliveries. </a:t>
            </a:r>
          </a:p>
          <a:p>
            <a:r>
              <a:rPr lang="en-US" dirty="0"/>
              <a:t>Workload can be balanced by assigning fewer complex or long-distance routes to low-performing agents and gradually increasing their responsibility as their performance improves. </a:t>
            </a:r>
          </a:p>
          <a:p>
            <a:r>
              <a:rPr lang="en-US" dirty="0"/>
              <a:t>High-performing agents can be asked to guide or mentor them so that overall delivery performance can be improved.</a:t>
            </a:r>
          </a:p>
          <a:p>
            <a:endParaRPr lang="en-US" dirty="0"/>
          </a:p>
          <a:p>
            <a:endParaRPr lang="en-IN" dirty="0"/>
          </a:p>
        </p:txBody>
      </p:sp>
    </p:spTree>
    <p:extLst>
      <p:ext uri="{BB962C8B-B14F-4D97-AF65-F5344CB8AC3E}">
        <p14:creationId xmlns:p14="http://schemas.microsoft.com/office/powerpoint/2010/main" val="32232537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0CAEC-7447-5C7F-1172-BBC3D6E67337}"/>
              </a:ext>
            </a:extLst>
          </p:cNvPr>
          <p:cNvSpPr>
            <a:spLocks noGrp="1"/>
          </p:cNvSpPr>
          <p:nvPr>
            <p:ph type="title"/>
          </p:nvPr>
        </p:nvSpPr>
        <p:spPr>
          <a:xfrm>
            <a:off x="2565768" y="321365"/>
            <a:ext cx="6111092" cy="443948"/>
          </a:xfrm>
        </p:spPr>
        <p:txBody>
          <a:bodyPr>
            <a:noAutofit/>
          </a:bodyPr>
          <a:lstStyle/>
          <a:p>
            <a:pPr algn="ctr"/>
            <a:r>
              <a:rPr lang="en-US" sz="2400" u="sng" dirty="0">
                <a:solidFill>
                  <a:schemeClr val="accent6">
                    <a:lumMod val="50000"/>
                  </a:schemeClr>
                </a:solidFill>
              </a:rPr>
              <a:t>Task 5 visuals</a:t>
            </a:r>
            <a:endParaRPr lang="en-IN" sz="2400" dirty="0"/>
          </a:p>
        </p:txBody>
      </p:sp>
      <p:pic>
        <p:nvPicPr>
          <p:cNvPr id="7" name="Picture 6">
            <a:extLst>
              <a:ext uri="{FF2B5EF4-FFF2-40B4-BE49-F238E27FC236}">
                <a16:creationId xmlns:a16="http://schemas.microsoft.com/office/drawing/2014/main" id="{4523EB96-7076-A216-6E70-752FF2D933A0}"/>
              </a:ext>
            </a:extLst>
          </p:cNvPr>
          <p:cNvPicPr>
            <a:picLocks noChangeAspect="1"/>
          </p:cNvPicPr>
          <p:nvPr/>
        </p:nvPicPr>
        <p:blipFill>
          <a:blip r:embed="rId2"/>
          <a:stretch>
            <a:fillRect/>
          </a:stretch>
        </p:blipFill>
        <p:spPr>
          <a:xfrm>
            <a:off x="1954641" y="1147746"/>
            <a:ext cx="7612651" cy="4562507"/>
          </a:xfrm>
          <a:prstGeom prst="rect">
            <a:avLst/>
          </a:prstGeom>
        </p:spPr>
      </p:pic>
    </p:spTree>
    <p:extLst>
      <p:ext uri="{BB962C8B-B14F-4D97-AF65-F5344CB8AC3E}">
        <p14:creationId xmlns:p14="http://schemas.microsoft.com/office/powerpoint/2010/main" val="35727879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46FE6-D6BA-EE27-CB64-979D1DAF35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8F4CE5-FE0D-629B-FBCF-F19A615D30A2}"/>
              </a:ext>
            </a:extLst>
          </p:cNvPr>
          <p:cNvSpPr>
            <a:spLocks noGrp="1"/>
          </p:cNvSpPr>
          <p:nvPr>
            <p:ph type="title"/>
          </p:nvPr>
        </p:nvSpPr>
        <p:spPr>
          <a:xfrm>
            <a:off x="460145" y="0"/>
            <a:ext cx="9300082" cy="944217"/>
          </a:xfrm>
        </p:spPr>
        <p:txBody>
          <a:bodyPr>
            <a:normAutofit fontScale="90000"/>
          </a:bodyPr>
          <a:lstStyle/>
          <a:p>
            <a:r>
              <a:rPr lang="en-US" sz="2400" dirty="0">
                <a:solidFill>
                  <a:schemeClr val="accent6">
                    <a:lumMod val="50000"/>
                  </a:schemeClr>
                </a:solidFill>
              </a:rPr>
              <a:t>Task 6(Shipment Tracking Analytics)</a:t>
            </a:r>
            <a:br>
              <a:rPr lang="en-US" sz="2400" dirty="0">
                <a:solidFill>
                  <a:schemeClr val="accent6">
                    <a:lumMod val="50000"/>
                  </a:schemeClr>
                </a:solidFill>
              </a:rPr>
            </a:br>
            <a:r>
              <a:rPr lang="en-US" sz="2400" u="sng" dirty="0">
                <a:solidFill>
                  <a:schemeClr val="accent6">
                    <a:lumMod val="50000"/>
                  </a:schemeClr>
                </a:solidFill>
              </a:rPr>
              <a:t>6.1 Latest Status of Each Shipment </a:t>
            </a:r>
            <a:br>
              <a:rPr lang="en-US" sz="2400" u="sng" dirty="0"/>
            </a:br>
            <a:endParaRPr lang="en-IN" sz="2400" u="sng" dirty="0"/>
          </a:p>
        </p:txBody>
      </p:sp>
      <p:sp>
        <p:nvSpPr>
          <p:cNvPr id="3" name="Content Placeholder 2">
            <a:extLst>
              <a:ext uri="{FF2B5EF4-FFF2-40B4-BE49-F238E27FC236}">
                <a16:creationId xmlns:a16="http://schemas.microsoft.com/office/drawing/2014/main" id="{ABF87F42-2D62-A950-CB64-D2387B72EDCF}"/>
              </a:ext>
            </a:extLst>
          </p:cNvPr>
          <p:cNvSpPr>
            <a:spLocks noGrp="1"/>
          </p:cNvSpPr>
          <p:nvPr>
            <p:ph idx="1"/>
          </p:nvPr>
        </p:nvSpPr>
        <p:spPr>
          <a:xfrm>
            <a:off x="291179" y="858198"/>
            <a:ext cx="10096684" cy="5810958"/>
          </a:xfrm>
        </p:spPr>
        <p:txBody>
          <a:bodyPr/>
          <a:lstStyle/>
          <a:p>
            <a:r>
              <a:rPr lang="en-US" dirty="0"/>
              <a:t>SELECT s.Shipment_ID,s.Delivery_Status,s.Delivery_Date FROM shipments s JOIN (SELECT Shipment_ID, MAX(Delivery_Date) AS Max_Date FROM shipments GROUP BY Shipment_ID) t ON s.Shipment_ID = t.Shipment_ID AND s.Delivery_Date = t.Max_Date;</a:t>
            </a:r>
          </a:p>
          <a:p>
            <a:r>
              <a:rPr lang="en-US" dirty="0"/>
              <a:t>To find the latest status of each shipment, first the maximum delivery date is calculated for every Shipment_ID using a subquery. Then, this result is joined with the Shipments table to get the corresponding Delivery Status for that latest date. This ensures that only the most recent record of each shipment is selected.</a:t>
            </a:r>
          </a:p>
          <a:p>
            <a:endParaRPr lang="en-US" dirty="0"/>
          </a:p>
          <a:p>
            <a:endParaRPr lang="en-IN" dirty="0"/>
          </a:p>
        </p:txBody>
      </p:sp>
      <p:pic>
        <p:nvPicPr>
          <p:cNvPr id="5" name="Picture 4">
            <a:extLst>
              <a:ext uri="{FF2B5EF4-FFF2-40B4-BE49-F238E27FC236}">
                <a16:creationId xmlns:a16="http://schemas.microsoft.com/office/drawing/2014/main" id="{C4312A94-082B-7C61-AAA9-C493D48EF3A7}"/>
              </a:ext>
            </a:extLst>
          </p:cNvPr>
          <p:cNvPicPr>
            <a:picLocks noChangeAspect="1"/>
          </p:cNvPicPr>
          <p:nvPr/>
        </p:nvPicPr>
        <p:blipFill>
          <a:blip r:embed="rId2"/>
          <a:stretch>
            <a:fillRect/>
          </a:stretch>
        </p:blipFill>
        <p:spPr>
          <a:xfrm>
            <a:off x="5253396" y="2774538"/>
            <a:ext cx="3811091" cy="3974699"/>
          </a:xfrm>
          <a:prstGeom prst="rect">
            <a:avLst/>
          </a:prstGeom>
        </p:spPr>
      </p:pic>
    </p:spTree>
    <p:extLst>
      <p:ext uri="{BB962C8B-B14F-4D97-AF65-F5344CB8AC3E}">
        <p14:creationId xmlns:p14="http://schemas.microsoft.com/office/powerpoint/2010/main" val="41712975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631C2-200C-CE9A-9B25-84B74ADFDA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ACA4E7-C175-ECDE-616F-90970FDCEB2A}"/>
              </a:ext>
            </a:extLst>
          </p:cNvPr>
          <p:cNvSpPr>
            <a:spLocks noGrp="1"/>
          </p:cNvSpPr>
          <p:nvPr>
            <p:ph type="title"/>
          </p:nvPr>
        </p:nvSpPr>
        <p:spPr>
          <a:xfrm>
            <a:off x="460145" y="0"/>
            <a:ext cx="8823003" cy="556591"/>
          </a:xfrm>
        </p:spPr>
        <p:txBody>
          <a:bodyPr>
            <a:normAutofit fontScale="90000"/>
          </a:bodyPr>
          <a:lstStyle/>
          <a:p>
            <a:r>
              <a:rPr lang="en-US" sz="2400" u="sng" dirty="0">
                <a:solidFill>
                  <a:schemeClr val="accent6">
                    <a:lumMod val="50000"/>
                  </a:schemeClr>
                </a:solidFill>
              </a:rPr>
              <a:t>6.2 Routes where Majority of Shipments are in Transit or Returned </a:t>
            </a:r>
            <a:br>
              <a:rPr lang="en-US" sz="2400" u="sng" dirty="0"/>
            </a:br>
            <a:endParaRPr lang="en-IN" sz="2400" u="sng" dirty="0"/>
          </a:p>
        </p:txBody>
      </p:sp>
      <p:sp>
        <p:nvSpPr>
          <p:cNvPr id="3" name="Content Placeholder 2">
            <a:extLst>
              <a:ext uri="{FF2B5EF4-FFF2-40B4-BE49-F238E27FC236}">
                <a16:creationId xmlns:a16="http://schemas.microsoft.com/office/drawing/2014/main" id="{D63640D1-3ACB-629B-EC49-3561FB721F0D}"/>
              </a:ext>
            </a:extLst>
          </p:cNvPr>
          <p:cNvSpPr>
            <a:spLocks noGrp="1"/>
          </p:cNvSpPr>
          <p:nvPr>
            <p:ph idx="1"/>
          </p:nvPr>
        </p:nvSpPr>
        <p:spPr>
          <a:xfrm>
            <a:off x="301119" y="556591"/>
            <a:ext cx="10096684" cy="5810958"/>
          </a:xfrm>
        </p:spPr>
        <p:txBody>
          <a:bodyPr/>
          <a:lstStyle/>
          <a:p>
            <a:r>
              <a:rPr lang="en-US" dirty="0"/>
              <a:t>SELECT Route_ID,COUNT(*) AS Total_Shipments,COUNT(CASE WHEN Delivery_Status IN ('In Transit', 'Returned') THEN 1 END) AS Problem_ShipmentsFROM shipments GROUP BY Route_ID HAVING COUNT(CASE WHEN Delivery_Status IN ('In Transit', 'Returned') THEN 1 END) &gt; COUNT(*) / 2;</a:t>
            </a:r>
          </a:p>
          <a:p>
            <a:r>
              <a:rPr lang="en-US" dirty="0"/>
              <a:t>In this query, the total number of shipments is counted for each route. Then, only those shipments with status “In Transit” or “Returned” are counted using a condition. The HAVING clause is used to check whether these problem shipments are more than half of the total shipments for that route. If this condition is true, the route is selected. </a:t>
            </a:r>
          </a:p>
          <a:p>
            <a:endParaRPr lang="en-US" dirty="0"/>
          </a:p>
          <a:p>
            <a:endParaRPr lang="en-US" dirty="0"/>
          </a:p>
          <a:p>
            <a:endParaRPr lang="en-US" dirty="0"/>
          </a:p>
          <a:p>
            <a:endParaRPr lang="en-US" dirty="0"/>
          </a:p>
          <a:p>
            <a:r>
              <a:rPr lang="en-US" dirty="0"/>
              <a:t>In our result, no route satisfied this condition, which means no route has a majority of shipments that are undelivered or returned.</a:t>
            </a:r>
          </a:p>
          <a:p>
            <a:endParaRPr lang="en-IN" dirty="0"/>
          </a:p>
        </p:txBody>
      </p:sp>
      <p:pic>
        <p:nvPicPr>
          <p:cNvPr id="6" name="Picture 5">
            <a:extLst>
              <a:ext uri="{FF2B5EF4-FFF2-40B4-BE49-F238E27FC236}">
                <a16:creationId xmlns:a16="http://schemas.microsoft.com/office/drawing/2014/main" id="{F8982255-5E3E-6CF0-D65A-D72F580789BF}"/>
              </a:ext>
            </a:extLst>
          </p:cNvPr>
          <p:cNvPicPr>
            <a:picLocks noChangeAspect="1"/>
          </p:cNvPicPr>
          <p:nvPr/>
        </p:nvPicPr>
        <p:blipFill>
          <a:blip r:embed="rId2"/>
          <a:stretch>
            <a:fillRect/>
          </a:stretch>
        </p:blipFill>
        <p:spPr>
          <a:xfrm>
            <a:off x="3270142" y="3107962"/>
            <a:ext cx="3524742" cy="1238423"/>
          </a:xfrm>
          <a:prstGeom prst="rect">
            <a:avLst/>
          </a:prstGeom>
        </p:spPr>
      </p:pic>
    </p:spTree>
    <p:extLst>
      <p:ext uri="{BB962C8B-B14F-4D97-AF65-F5344CB8AC3E}">
        <p14:creationId xmlns:p14="http://schemas.microsoft.com/office/powerpoint/2010/main" val="10737076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93575-CECB-9765-16EC-3FA05DE64A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545848-EDFA-35F6-0809-EC650B824DA8}"/>
              </a:ext>
            </a:extLst>
          </p:cNvPr>
          <p:cNvSpPr>
            <a:spLocks noGrp="1"/>
          </p:cNvSpPr>
          <p:nvPr>
            <p:ph type="title"/>
          </p:nvPr>
        </p:nvSpPr>
        <p:spPr>
          <a:xfrm>
            <a:off x="460145" y="0"/>
            <a:ext cx="8823003" cy="556591"/>
          </a:xfrm>
        </p:spPr>
        <p:txBody>
          <a:bodyPr>
            <a:normAutofit fontScale="90000"/>
          </a:bodyPr>
          <a:lstStyle/>
          <a:p>
            <a:r>
              <a:rPr lang="en-US" sz="2400" u="sng" dirty="0">
                <a:solidFill>
                  <a:schemeClr val="accent6">
                    <a:lumMod val="50000"/>
                  </a:schemeClr>
                </a:solidFill>
              </a:rPr>
              <a:t>6.3 Identifying the Most Frequent Delay Reasons  </a:t>
            </a:r>
            <a:br>
              <a:rPr lang="en-US" sz="2400" u="sng" dirty="0"/>
            </a:br>
            <a:endParaRPr lang="en-IN" sz="2400" u="sng" dirty="0"/>
          </a:p>
        </p:txBody>
      </p:sp>
      <p:sp>
        <p:nvSpPr>
          <p:cNvPr id="3" name="Content Placeholder 2">
            <a:extLst>
              <a:ext uri="{FF2B5EF4-FFF2-40B4-BE49-F238E27FC236}">
                <a16:creationId xmlns:a16="http://schemas.microsoft.com/office/drawing/2014/main" id="{10D3E226-F98D-B146-2A28-3071F18AB59E}"/>
              </a:ext>
            </a:extLst>
          </p:cNvPr>
          <p:cNvSpPr>
            <a:spLocks noGrp="1"/>
          </p:cNvSpPr>
          <p:nvPr>
            <p:ph idx="1"/>
          </p:nvPr>
        </p:nvSpPr>
        <p:spPr>
          <a:xfrm>
            <a:off x="301119" y="556591"/>
            <a:ext cx="10096684" cy="5810958"/>
          </a:xfrm>
        </p:spPr>
        <p:txBody>
          <a:bodyPr/>
          <a:lstStyle/>
          <a:p>
            <a:r>
              <a:rPr lang="en-US" dirty="0"/>
              <a:t>SELECT Delay_Reason,COUNT(*) AS Frequency FROM shipments GROUP BY Delay_Reason ORDER BY Frequency DESC;</a:t>
            </a:r>
          </a:p>
          <a:p>
            <a:r>
              <a:rPr lang="en-US" dirty="0"/>
              <a:t>In this query, the Delay_Reason column is used to find the most common causes of delivery delays. Only records with a valid delay reason are selected. Then, the data is grouped by Delay_Reason and the number of shipments for each reason is counted. Finally, the results are sorted in descending order to identify the most frequent delay reasons.</a:t>
            </a:r>
          </a:p>
          <a:p>
            <a:endParaRPr lang="en-US" dirty="0"/>
          </a:p>
          <a:p>
            <a:endParaRPr lang="en-US" dirty="0"/>
          </a:p>
          <a:p>
            <a:endParaRPr lang="en-US" dirty="0"/>
          </a:p>
          <a:p>
            <a:endParaRPr lang="en-US" dirty="0"/>
          </a:p>
          <a:p>
            <a:endParaRPr lang="en-US" dirty="0"/>
          </a:p>
          <a:p>
            <a:endParaRPr lang="en-IN" dirty="0"/>
          </a:p>
        </p:txBody>
      </p:sp>
      <p:pic>
        <p:nvPicPr>
          <p:cNvPr id="5" name="Picture 4">
            <a:extLst>
              <a:ext uri="{FF2B5EF4-FFF2-40B4-BE49-F238E27FC236}">
                <a16:creationId xmlns:a16="http://schemas.microsoft.com/office/drawing/2014/main" id="{5469DFFE-6A68-63A2-8800-8190AD2CA57D}"/>
              </a:ext>
            </a:extLst>
          </p:cNvPr>
          <p:cNvPicPr>
            <a:picLocks noChangeAspect="1"/>
          </p:cNvPicPr>
          <p:nvPr/>
        </p:nvPicPr>
        <p:blipFill>
          <a:blip r:embed="rId2"/>
          <a:stretch>
            <a:fillRect/>
          </a:stretch>
        </p:blipFill>
        <p:spPr>
          <a:xfrm>
            <a:off x="3002294" y="2715795"/>
            <a:ext cx="3289177" cy="1558032"/>
          </a:xfrm>
          <a:prstGeom prst="rect">
            <a:avLst/>
          </a:prstGeom>
        </p:spPr>
      </p:pic>
    </p:spTree>
    <p:extLst>
      <p:ext uri="{BB962C8B-B14F-4D97-AF65-F5344CB8AC3E}">
        <p14:creationId xmlns:p14="http://schemas.microsoft.com/office/powerpoint/2010/main" val="20804329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9A084-35A4-3ADC-211D-FB48869AF6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1976EA-B418-899D-2609-91EFCEEF40BA}"/>
              </a:ext>
            </a:extLst>
          </p:cNvPr>
          <p:cNvSpPr>
            <a:spLocks noGrp="1"/>
          </p:cNvSpPr>
          <p:nvPr>
            <p:ph type="title"/>
          </p:nvPr>
        </p:nvSpPr>
        <p:spPr>
          <a:xfrm>
            <a:off x="460145" y="0"/>
            <a:ext cx="8823003" cy="556591"/>
          </a:xfrm>
        </p:spPr>
        <p:txBody>
          <a:bodyPr>
            <a:normAutofit fontScale="90000"/>
          </a:bodyPr>
          <a:lstStyle/>
          <a:p>
            <a:r>
              <a:rPr lang="en-US" sz="2400" u="sng" dirty="0">
                <a:solidFill>
                  <a:schemeClr val="accent6">
                    <a:lumMod val="50000"/>
                  </a:schemeClr>
                </a:solidFill>
              </a:rPr>
              <a:t>6.4 Identify Orders with Exceptionally High Delay (&gt; 120 Hours)   </a:t>
            </a:r>
            <a:br>
              <a:rPr lang="en-US" sz="2400" u="sng" dirty="0"/>
            </a:br>
            <a:endParaRPr lang="en-IN" sz="2400" u="sng" dirty="0"/>
          </a:p>
        </p:txBody>
      </p:sp>
      <p:sp>
        <p:nvSpPr>
          <p:cNvPr id="3" name="Content Placeholder 2">
            <a:extLst>
              <a:ext uri="{FF2B5EF4-FFF2-40B4-BE49-F238E27FC236}">
                <a16:creationId xmlns:a16="http://schemas.microsoft.com/office/drawing/2014/main" id="{938E7AF4-ECA3-9FBB-2541-397DD7ED4BD2}"/>
              </a:ext>
            </a:extLst>
          </p:cNvPr>
          <p:cNvSpPr>
            <a:spLocks noGrp="1"/>
          </p:cNvSpPr>
          <p:nvPr>
            <p:ph idx="1"/>
          </p:nvPr>
        </p:nvSpPr>
        <p:spPr>
          <a:xfrm>
            <a:off x="301119" y="556591"/>
            <a:ext cx="10174724" cy="5854148"/>
          </a:xfrm>
        </p:spPr>
        <p:txBody>
          <a:bodyPr/>
          <a:lstStyle/>
          <a:p>
            <a:r>
              <a:rPr lang="en-US" dirty="0"/>
              <a:t>SELECT Shipment_ID,Order_ID,Route_ID,Warehouse_ID,Agent_ID,Delay_Hours,Delivery_Status FROM shipments WHERE Delay_Hours &gt; 120;</a:t>
            </a:r>
          </a:p>
          <a:p>
            <a:r>
              <a:rPr lang="en-US" dirty="0"/>
              <a:t>This query filters the shipments table to find orders that have a very high delay of more than 120 hours. By selecting only those records, we identify exceptional cases where deliveries are delayed for several days. </a:t>
            </a:r>
          </a:p>
          <a:p>
            <a:endParaRPr lang="en-US" dirty="0"/>
          </a:p>
          <a:p>
            <a:endParaRPr lang="en-US" dirty="0"/>
          </a:p>
          <a:p>
            <a:endParaRPr lang="en-US" dirty="0"/>
          </a:p>
          <a:p>
            <a:endParaRPr lang="en-US" dirty="0"/>
          </a:p>
          <a:p>
            <a:endParaRPr lang="en-IN" dirty="0"/>
          </a:p>
        </p:txBody>
      </p:sp>
      <p:pic>
        <p:nvPicPr>
          <p:cNvPr id="6" name="Picture 5">
            <a:extLst>
              <a:ext uri="{FF2B5EF4-FFF2-40B4-BE49-F238E27FC236}">
                <a16:creationId xmlns:a16="http://schemas.microsoft.com/office/drawing/2014/main" id="{01591123-1A31-E0BE-B207-D639FF09EE21}"/>
              </a:ext>
            </a:extLst>
          </p:cNvPr>
          <p:cNvPicPr>
            <a:picLocks noChangeAspect="1"/>
          </p:cNvPicPr>
          <p:nvPr/>
        </p:nvPicPr>
        <p:blipFill>
          <a:blip r:embed="rId2"/>
          <a:stretch>
            <a:fillRect/>
          </a:stretch>
        </p:blipFill>
        <p:spPr>
          <a:xfrm>
            <a:off x="2157563" y="2318228"/>
            <a:ext cx="6986437" cy="4281354"/>
          </a:xfrm>
          <a:prstGeom prst="rect">
            <a:avLst/>
          </a:prstGeom>
        </p:spPr>
      </p:pic>
    </p:spTree>
    <p:extLst>
      <p:ext uri="{BB962C8B-B14F-4D97-AF65-F5344CB8AC3E}">
        <p14:creationId xmlns:p14="http://schemas.microsoft.com/office/powerpoint/2010/main" val="26504681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27451-27FE-9102-BD7A-8CC07FB238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982F68-66BE-5971-7A56-EAB52F40E1E3}"/>
              </a:ext>
            </a:extLst>
          </p:cNvPr>
          <p:cNvSpPr>
            <a:spLocks noGrp="1"/>
          </p:cNvSpPr>
          <p:nvPr>
            <p:ph type="title"/>
          </p:nvPr>
        </p:nvSpPr>
        <p:spPr>
          <a:xfrm>
            <a:off x="460145" y="0"/>
            <a:ext cx="8852820" cy="795130"/>
          </a:xfrm>
        </p:spPr>
        <p:txBody>
          <a:bodyPr>
            <a:normAutofit fontScale="90000"/>
          </a:bodyPr>
          <a:lstStyle/>
          <a:p>
            <a:r>
              <a:rPr lang="en-US" sz="2400" dirty="0">
                <a:solidFill>
                  <a:schemeClr val="accent6">
                    <a:lumMod val="50000"/>
                  </a:schemeClr>
                </a:solidFill>
              </a:rPr>
              <a:t>Task 7</a:t>
            </a:r>
            <a:br>
              <a:rPr lang="en-US" sz="2400" dirty="0">
                <a:solidFill>
                  <a:schemeClr val="accent6">
                    <a:lumMod val="50000"/>
                  </a:schemeClr>
                </a:solidFill>
              </a:rPr>
            </a:br>
            <a:r>
              <a:rPr lang="en-US" sz="2400" u="sng" dirty="0">
                <a:solidFill>
                  <a:schemeClr val="accent6">
                    <a:lumMod val="50000"/>
                  </a:schemeClr>
                </a:solidFill>
              </a:rPr>
              <a:t>7.1 Average Delivery Delay per Source Country   </a:t>
            </a:r>
            <a:br>
              <a:rPr lang="en-US" sz="2400" u="sng" dirty="0">
                <a:solidFill>
                  <a:schemeClr val="accent6">
                    <a:lumMod val="50000"/>
                  </a:schemeClr>
                </a:solidFill>
              </a:rPr>
            </a:br>
            <a:r>
              <a:rPr lang="en-US" sz="2400" u="sng" dirty="0">
                <a:solidFill>
                  <a:schemeClr val="accent6">
                    <a:lumMod val="50000"/>
                  </a:schemeClr>
                </a:solidFill>
              </a:rPr>
              <a:t> </a:t>
            </a:r>
            <a:br>
              <a:rPr lang="en-US" sz="2400" u="sng" dirty="0"/>
            </a:br>
            <a:endParaRPr lang="en-IN" sz="2400" u="sng" dirty="0"/>
          </a:p>
        </p:txBody>
      </p:sp>
      <p:sp>
        <p:nvSpPr>
          <p:cNvPr id="3" name="Content Placeholder 2">
            <a:extLst>
              <a:ext uri="{FF2B5EF4-FFF2-40B4-BE49-F238E27FC236}">
                <a16:creationId xmlns:a16="http://schemas.microsoft.com/office/drawing/2014/main" id="{65BE8307-111D-BFD9-B733-D7B526A0927A}"/>
              </a:ext>
            </a:extLst>
          </p:cNvPr>
          <p:cNvSpPr>
            <a:spLocks noGrp="1"/>
          </p:cNvSpPr>
          <p:nvPr>
            <p:ph idx="1"/>
          </p:nvPr>
        </p:nvSpPr>
        <p:spPr>
          <a:xfrm>
            <a:off x="357808" y="795129"/>
            <a:ext cx="10207487" cy="5983357"/>
          </a:xfrm>
        </p:spPr>
        <p:txBody>
          <a:bodyPr/>
          <a:lstStyle/>
          <a:p>
            <a:r>
              <a:rPr lang="en-US" dirty="0"/>
              <a:t>select r.source_country,avg(delay_hours) from shipments s join routes r on s.route_id=r.route_id group by source_country; </a:t>
            </a:r>
          </a:p>
          <a:p>
            <a:r>
              <a:rPr lang="en-US" dirty="0"/>
              <a:t>In this query, the Shipments table is joined with the Routes table to get the source country for each shipment. Then, the data is grouped by source country and the average delay hours are calculated. This shows which origin countries have higher average delivery delays.</a:t>
            </a:r>
          </a:p>
          <a:p>
            <a:endParaRPr lang="en-US" dirty="0"/>
          </a:p>
          <a:p>
            <a:endParaRPr lang="en-US" dirty="0"/>
          </a:p>
          <a:p>
            <a:endParaRPr lang="en-US" dirty="0"/>
          </a:p>
          <a:p>
            <a:endParaRPr lang="en-US" dirty="0"/>
          </a:p>
          <a:p>
            <a:endParaRPr lang="en-IN" dirty="0"/>
          </a:p>
        </p:txBody>
      </p:sp>
      <p:pic>
        <p:nvPicPr>
          <p:cNvPr id="5" name="Picture 4">
            <a:extLst>
              <a:ext uri="{FF2B5EF4-FFF2-40B4-BE49-F238E27FC236}">
                <a16:creationId xmlns:a16="http://schemas.microsoft.com/office/drawing/2014/main" id="{FD35B07D-9F99-6539-2197-CF5114DB784F}"/>
              </a:ext>
            </a:extLst>
          </p:cNvPr>
          <p:cNvPicPr>
            <a:picLocks noChangeAspect="1"/>
          </p:cNvPicPr>
          <p:nvPr/>
        </p:nvPicPr>
        <p:blipFill>
          <a:blip r:embed="rId2"/>
          <a:stretch>
            <a:fillRect/>
          </a:stretch>
        </p:blipFill>
        <p:spPr>
          <a:xfrm>
            <a:off x="3965416" y="2426131"/>
            <a:ext cx="2902820" cy="4192962"/>
          </a:xfrm>
          <a:prstGeom prst="rect">
            <a:avLst/>
          </a:prstGeom>
        </p:spPr>
      </p:pic>
    </p:spTree>
    <p:extLst>
      <p:ext uri="{BB962C8B-B14F-4D97-AF65-F5344CB8AC3E}">
        <p14:creationId xmlns:p14="http://schemas.microsoft.com/office/powerpoint/2010/main" val="15864312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9883C-5877-C46C-22F1-4CEFBE5564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16A89A-4489-BE5E-0DAE-0814D1342F48}"/>
              </a:ext>
            </a:extLst>
          </p:cNvPr>
          <p:cNvSpPr>
            <a:spLocks noGrp="1"/>
          </p:cNvSpPr>
          <p:nvPr>
            <p:ph type="title"/>
          </p:nvPr>
        </p:nvSpPr>
        <p:spPr>
          <a:xfrm>
            <a:off x="460145" y="79514"/>
            <a:ext cx="8236594" cy="387626"/>
          </a:xfrm>
        </p:spPr>
        <p:txBody>
          <a:bodyPr>
            <a:normAutofit fontScale="90000"/>
          </a:bodyPr>
          <a:lstStyle/>
          <a:p>
            <a:r>
              <a:rPr lang="en-US" sz="2400" u="sng" dirty="0">
                <a:solidFill>
                  <a:schemeClr val="accent6">
                    <a:lumMod val="50000"/>
                  </a:schemeClr>
                </a:solidFill>
              </a:rPr>
              <a:t>7.2 On-Time Delivery Percentage    </a:t>
            </a:r>
            <a:br>
              <a:rPr lang="en-US" sz="2400" u="sng" dirty="0">
                <a:solidFill>
                  <a:schemeClr val="accent6">
                    <a:lumMod val="50000"/>
                  </a:schemeClr>
                </a:solidFill>
              </a:rPr>
            </a:br>
            <a:r>
              <a:rPr lang="en-US" sz="2400" u="sng" dirty="0">
                <a:solidFill>
                  <a:schemeClr val="accent6">
                    <a:lumMod val="50000"/>
                  </a:schemeClr>
                </a:solidFill>
              </a:rPr>
              <a:t> </a:t>
            </a:r>
            <a:br>
              <a:rPr lang="en-US" sz="2400" u="sng" dirty="0"/>
            </a:br>
            <a:endParaRPr lang="en-IN" sz="2400" u="sng" dirty="0"/>
          </a:p>
        </p:txBody>
      </p:sp>
      <p:sp>
        <p:nvSpPr>
          <p:cNvPr id="3" name="Content Placeholder 2">
            <a:extLst>
              <a:ext uri="{FF2B5EF4-FFF2-40B4-BE49-F238E27FC236}">
                <a16:creationId xmlns:a16="http://schemas.microsoft.com/office/drawing/2014/main" id="{C7BF2F19-3A3C-5FDC-EB73-0E71174514DD}"/>
              </a:ext>
            </a:extLst>
          </p:cNvPr>
          <p:cNvSpPr>
            <a:spLocks noGrp="1"/>
          </p:cNvSpPr>
          <p:nvPr>
            <p:ph idx="1"/>
          </p:nvPr>
        </p:nvSpPr>
        <p:spPr>
          <a:xfrm>
            <a:off x="460145" y="626164"/>
            <a:ext cx="10125028" cy="5973419"/>
          </a:xfrm>
        </p:spPr>
        <p:txBody>
          <a:bodyPr>
            <a:normAutofit/>
          </a:bodyPr>
          <a:lstStyle/>
          <a:p>
            <a:pPr marL="400050"/>
            <a:r>
              <a:rPr lang="en-US" dirty="0"/>
              <a:t>SELECT (COUNT(CASE WHEN Delay_Hours = 0 THEN 1 END) * 100.0 / COUNT(*)) AS OnTime_Delivery_Percentage FROM shipments;</a:t>
            </a:r>
          </a:p>
          <a:p>
            <a:pPr marL="400050"/>
            <a:r>
              <a:rPr lang="en-US" dirty="0"/>
              <a:t>This syntax calculates the overall on-time delivery percentage. Shipments with zero delay hours are considered on-time deliveries. The total number of on-time shipments is divided by the total number of shipments and multiplied by 100 to get the on-time delivery percentage. </a:t>
            </a:r>
          </a:p>
          <a:p>
            <a:pPr marL="400050"/>
            <a:endParaRPr lang="en-US" dirty="0"/>
          </a:p>
          <a:p>
            <a:pPr marL="400050"/>
            <a:endParaRPr lang="en-US" dirty="0"/>
          </a:p>
          <a:p>
            <a:pPr marL="400050"/>
            <a:endParaRPr lang="en-US" dirty="0"/>
          </a:p>
          <a:p>
            <a:pPr marL="400050"/>
            <a:endParaRPr lang="en-US" dirty="0"/>
          </a:p>
          <a:p>
            <a:pPr marL="400050"/>
            <a:r>
              <a:rPr lang="en-US" dirty="0"/>
              <a:t>This KPI shows how efficiently DHL is meeting its delivery timelines.</a:t>
            </a:r>
            <a:endParaRPr lang="en-IN" dirty="0"/>
          </a:p>
        </p:txBody>
      </p:sp>
      <p:pic>
        <p:nvPicPr>
          <p:cNvPr id="6" name="Picture 5">
            <a:extLst>
              <a:ext uri="{FF2B5EF4-FFF2-40B4-BE49-F238E27FC236}">
                <a16:creationId xmlns:a16="http://schemas.microsoft.com/office/drawing/2014/main" id="{CEEE0782-3E7B-047A-E92D-AF3BAD6B2D1E}"/>
              </a:ext>
            </a:extLst>
          </p:cNvPr>
          <p:cNvPicPr>
            <a:picLocks noChangeAspect="1"/>
          </p:cNvPicPr>
          <p:nvPr/>
        </p:nvPicPr>
        <p:blipFill>
          <a:blip r:embed="rId2"/>
          <a:stretch>
            <a:fillRect/>
          </a:stretch>
        </p:blipFill>
        <p:spPr>
          <a:xfrm>
            <a:off x="2779695" y="2999124"/>
            <a:ext cx="4173373" cy="859751"/>
          </a:xfrm>
          <a:prstGeom prst="rect">
            <a:avLst/>
          </a:prstGeom>
        </p:spPr>
      </p:pic>
    </p:spTree>
    <p:extLst>
      <p:ext uri="{BB962C8B-B14F-4D97-AF65-F5344CB8AC3E}">
        <p14:creationId xmlns:p14="http://schemas.microsoft.com/office/powerpoint/2010/main" val="41725023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B89CD-3733-06E7-FE98-A10BE0B442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A8FD40-1ED0-E1FC-AADA-EB6C9545E8E7}"/>
              </a:ext>
            </a:extLst>
          </p:cNvPr>
          <p:cNvSpPr>
            <a:spLocks noGrp="1"/>
          </p:cNvSpPr>
          <p:nvPr>
            <p:ph type="title"/>
          </p:nvPr>
        </p:nvSpPr>
        <p:spPr>
          <a:xfrm>
            <a:off x="460145" y="79514"/>
            <a:ext cx="8236594" cy="387626"/>
          </a:xfrm>
        </p:spPr>
        <p:txBody>
          <a:bodyPr>
            <a:normAutofit fontScale="90000"/>
          </a:bodyPr>
          <a:lstStyle/>
          <a:p>
            <a:r>
              <a:rPr lang="en-US" sz="2400" u="sng" dirty="0">
                <a:solidFill>
                  <a:schemeClr val="accent6">
                    <a:lumMod val="50000"/>
                  </a:schemeClr>
                </a:solidFill>
              </a:rPr>
              <a:t>7.3 Average Delay per Route_ID     </a:t>
            </a:r>
            <a:br>
              <a:rPr lang="en-US" sz="2400" u="sng" dirty="0">
                <a:solidFill>
                  <a:schemeClr val="accent6">
                    <a:lumMod val="50000"/>
                  </a:schemeClr>
                </a:solidFill>
              </a:rPr>
            </a:br>
            <a:r>
              <a:rPr lang="en-US" sz="2400" u="sng" dirty="0">
                <a:solidFill>
                  <a:schemeClr val="accent6">
                    <a:lumMod val="50000"/>
                  </a:schemeClr>
                </a:solidFill>
              </a:rPr>
              <a:t> </a:t>
            </a:r>
            <a:br>
              <a:rPr lang="en-US" sz="2400" u="sng" dirty="0"/>
            </a:br>
            <a:endParaRPr lang="en-IN" sz="2400" u="sng" dirty="0"/>
          </a:p>
        </p:txBody>
      </p:sp>
      <p:sp>
        <p:nvSpPr>
          <p:cNvPr id="3" name="Content Placeholder 2">
            <a:extLst>
              <a:ext uri="{FF2B5EF4-FFF2-40B4-BE49-F238E27FC236}">
                <a16:creationId xmlns:a16="http://schemas.microsoft.com/office/drawing/2014/main" id="{EA6071B5-2CA2-F533-1301-B09609F8E561}"/>
              </a:ext>
            </a:extLst>
          </p:cNvPr>
          <p:cNvSpPr>
            <a:spLocks noGrp="1"/>
          </p:cNvSpPr>
          <p:nvPr>
            <p:ph idx="1"/>
          </p:nvPr>
        </p:nvSpPr>
        <p:spPr>
          <a:xfrm>
            <a:off x="460145" y="626164"/>
            <a:ext cx="10125028" cy="5973419"/>
          </a:xfrm>
        </p:spPr>
        <p:txBody>
          <a:bodyPr>
            <a:normAutofit/>
          </a:bodyPr>
          <a:lstStyle/>
          <a:p>
            <a:pPr marL="400050"/>
            <a:r>
              <a:rPr lang="en-US" dirty="0"/>
              <a:t>SELECT Route_ID,AVG(Delay_Hours) AS Avg_Delay_Hours FROM shipments GROUP BY Route_ID;</a:t>
            </a:r>
          </a:p>
          <a:p>
            <a:pPr marL="400050"/>
            <a:r>
              <a:rPr lang="en-US" dirty="0"/>
              <a:t>In this query, shipments are grouped by Route_ID and the average delay hours are calculated for each route. This helps identify which routes experience higher average delays.</a:t>
            </a:r>
          </a:p>
          <a:p>
            <a:pPr marL="400050"/>
            <a:endParaRPr lang="en-US" dirty="0"/>
          </a:p>
          <a:p>
            <a:pPr marL="400050"/>
            <a:endParaRPr lang="en-IN" dirty="0"/>
          </a:p>
        </p:txBody>
      </p:sp>
      <p:pic>
        <p:nvPicPr>
          <p:cNvPr id="5" name="Picture 4">
            <a:extLst>
              <a:ext uri="{FF2B5EF4-FFF2-40B4-BE49-F238E27FC236}">
                <a16:creationId xmlns:a16="http://schemas.microsoft.com/office/drawing/2014/main" id="{B1AFFB61-707D-A485-8108-D4B23065EBC3}"/>
              </a:ext>
            </a:extLst>
          </p:cNvPr>
          <p:cNvPicPr>
            <a:picLocks noChangeAspect="1"/>
          </p:cNvPicPr>
          <p:nvPr/>
        </p:nvPicPr>
        <p:blipFill>
          <a:blip r:embed="rId2"/>
          <a:stretch>
            <a:fillRect/>
          </a:stretch>
        </p:blipFill>
        <p:spPr>
          <a:xfrm>
            <a:off x="3982743" y="1964039"/>
            <a:ext cx="2431590" cy="4635543"/>
          </a:xfrm>
          <a:prstGeom prst="rect">
            <a:avLst/>
          </a:prstGeom>
        </p:spPr>
      </p:pic>
    </p:spTree>
    <p:extLst>
      <p:ext uri="{BB962C8B-B14F-4D97-AF65-F5344CB8AC3E}">
        <p14:creationId xmlns:p14="http://schemas.microsoft.com/office/powerpoint/2010/main" val="6766422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C541C-139D-8D11-B89B-D38D8D047D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52123A-4A02-E409-9C10-27F2C8615158}"/>
              </a:ext>
            </a:extLst>
          </p:cNvPr>
          <p:cNvSpPr>
            <a:spLocks noGrp="1"/>
          </p:cNvSpPr>
          <p:nvPr>
            <p:ph type="title"/>
          </p:nvPr>
        </p:nvSpPr>
        <p:spPr>
          <a:xfrm>
            <a:off x="460145" y="79514"/>
            <a:ext cx="8236594" cy="387626"/>
          </a:xfrm>
        </p:spPr>
        <p:txBody>
          <a:bodyPr>
            <a:normAutofit fontScale="90000"/>
          </a:bodyPr>
          <a:lstStyle/>
          <a:p>
            <a:r>
              <a:rPr lang="en-US" sz="2400" u="sng" dirty="0">
                <a:solidFill>
                  <a:schemeClr val="accent6">
                    <a:lumMod val="50000"/>
                  </a:schemeClr>
                </a:solidFill>
              </a:rPr>
              <a:t>7.4 Warehouse Utilization Percentage     </a:t>
            </a:r>
            <a:br>
              <a:rPr lang="en-US" sz="2400" u="sng" dirty="0">
                <a:solidFill>
                  <a:schemeClr val="accent6">
                    <a:lumMod val="50000"/>
                  </a:schemeClr>
                </a:solidFill>
              </a:rPr>
            </a:br>
            <a:r>
              <a:rPr lang="en-US" sz="2400" u="sng" dirty="0">
                <a:solidFill>
                  <a:schemeClr val="accent6">
                    <a:lumMod val="50000"/>
                  </a:schemeClr>
                </a:solidFill>
              </a:rPr>
              <a:t> </a:t>
            </a:r>
            <a:br>
              <a:rPr lang="en-US" sz="2400" u="sng" dirty="0"/>
            </a:br>
            <a:endParaRPr lang="en-IN" sz="2400" u="sng" dirty="0"/>
          </a:p>
        </p:txBody>
      </p:sp>
      <p:sp>
        <p:nvSpPr>
          <p:cNvPr id="3" name="Content Placeholder 2">
            <a:extLst>
              <a:ext uri="{FF2B5EF4-FFF2-40B4-BE49-F238E27FC236}">
                <a16:creationId xmlns:a16="http://schemas.microsoft.com/office/drawing/2014/main" id="{28C88DD7-01F4-E699-ADD3-C70ED9CD0136}"/>
              </a:ext>
            </a:extLst>
          </p:cNvPr>
          <p:cNvSpPr>
            <a:spLocks noGrp="1"/>
          </p:cNvSpPr>
          <p:nvPr>
            <p:ph idx="1"/>
          </p:nvPr>
        </p:nvSpPr>
        <p:spPr>
          <a:xfrm>
            <a:off x="460145" y="626164"/>
            <a:ext cx="10125028" cy="5973419"/>
          </a:xfrm>
        </p:spPr>
        <p:txBody>
          <a:bodyPr>
            <a:normAutofit/>
          </a:bodyPr>
          <a:lstStyle/>
          <a:p>
            <a:pPr marL="400050"/>
            <a:r>
              <a:rPr lang="en-US" dirty="0"/>
              <a:t>SELECT w.Warehouse_ID,w.Capacity_per_day,COUNT(s.Shipment_ID) AS Shipments_Handled,      (COUNT(s.Shipment_ID) * 100.0 / w.Capacity_per_day) AS Utilization_Percentag  FROM warehouses w LEFT JOIN shipments s ON w.Warehouse_ID = s.Warehouse_ID       GROUP BY w.Warehouse_ID, w.Capacity_per_day;</a:t>
            </a:r>
          </a:p>
          <a:p>
            <a:pPr marL="400050"/>
            <a:r>
              <a:rPr lang="en-US" dirty="0"/>
              <a:t>In this task, the number of shipments handled by each warehouse is compared with its daily handling capacity. By dividing the total shipments by the warehouse capacity and converting it into a percentage, the utilization level of each warehouse is calculated.</a:t>
            </a:r>
          </a:p>
          <a:p>
            <a:pPr marL="400050"/>
            <a:endParaRPr lang="en-US" dirty="0"/>
          </a:p>
          <a:p>
            <a:pPr marL="400050"/>
            <a:endParaRPr lang="en-US" dirty="0"/>
          </a:p>
          <a:p>
            <a:pPr marL="400050"/>
            <a:endParaRPr lang="en-US" dirty="0"/>
          </a:p>
          <a:p>
            <a:pPr marL="400050"/>
            <a:endParaRPr lang="en-US" dirty="0"/>
          </a:p>
          <a:p>
            <a:pPr marL="400050"/>
            <a:endParaRPr lang="en-US" dirty="0"/>
          </a:p>
          <a:p>
            <a:pPr marL="400050"/>
            <a:endParaRPr lang="en-US" dirty="0"/>
          </a:p>
          <a:p>
            <a:pPr marL="400050"/>
            <a:r>
              <a:rPr lang="en-US" dirty="0"/>
              <a:t>This helps identify warehouses that are over-utilized or under-utilized and supports better capacity planning and workload distribution. </a:t>
            </a:r>
          </a:p>
          <a:p>
            <a:pPr marL="400050"/>
            <a:endParaRPr lang="en-IN" dirty="0"/>
          </a:p>
        </p:txBody>
      </p:sp>
      <p:pic>
        <p:nvPicPr>
          <p:cNvPr id="6" name="Picture 5">
            <a:extLst>
              <a:ext uri="{FF2B5EF4-FFF2-40B4-BE49-F238E27FC236}">
                <a16:creationId xmlns:a16="http://schemas.microsoft.com/office/drawing/2014/main" id="{8D7D438E-F484-238E-50D7-B124FC6E8B3F}"/>
              </a:ext>
            </a:extLst>
          </p:cNvPr>
          <p:cNvPicPr>
            <a:picLocks noChangeAspect="1"/>
          </p:cNvPicPr>
          <p:nvPr/>
        </p:nvPicPr>
        <p:blipFill>
          <a:blip r:embed="rId2"/>
          <a:stretch>
            <a:fillRect/>
          </a:stretch>
        </p:blipFill>
        <p:spPr>
          <a:xfrm>
            <a:off x="2831471" y="2782797"/>
            <a:ext cx="5873366" cy="2494881"/>
          </a:xfrm>
          <a:prstGeom prst="rect">
            <a:avLst/>
          </a:prstGeom>
        </p:spPr>
      </p:pic>
    </p:spTree>
    <p:extLst>
      <p:ext uri="{BB962C8B-B14F-4D97-AF65-F5344CB8AC3E}">
        <p14:creationId xmlns:p14="http://schemas.microsoft.com/office/powerpoint/2010/main" val="30111220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76EFE-A004-E5D8-48CE-07ABC6C856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3F42B7-FCAB-FE0C-B80E-10EA3D47C772}"/>
              </a:ext>
            </a:extLst>
          </p:cNvPr>
          <p:cNvSpPr>
            <a:spLocks noGrp="1"/>
          </p:cNvSpPr>
          <p:nvPr>
            <p:ph type="title"/>
          </p:nvPr>
        </p:nvSpPr>
        <p:spPr>
          <a:xfrm>
            <a:off x="460145" y="79514"/>
            <a:ext cx="8236594" cy="387626"/>
          </a:xfrm>
        </p:spPr>
        <p:txBody>
          <a:bodyPr>
            <a:normAutofit fontScale="90000"/>
          </a:bodyPr>
          <a:lstStyle/>
          <a:p>
            <a:pPr algn="ctr"/>
            <a:r>
              <a:rPr lang="en-US" sz="2400" dirty="0">
                <a:solidFill>
                  <a:schemeClr val="accent6">
                    <a:lumMod val="50000"/>
                  </a:schemeClr>
                </a:solidFill>
              </a:rPr>
              <a:t>         </a:t>
            </a:r>
            <a:r>
              <a:rPr lang="en-US" sz="2400" u="sng" dirty="0">
                <a:solidFill>
                  <a:schemeClr val="accent6">
                    <a:lumMod val="50000"/>
                  </a:schemeClr>
                </a:solidFill>
              </a:rPr>
              <a:t>Task 7 Visuals     </a:t>
            </a:r>
            <a:br>
              <a:rPr lang="en-US" sz="2400" u="sng" dirty="0">
                <a:solidFill>
                  <a:schemeClr val="accent6">
                    <a:lumMod val="50000"/>
                  </a:schemeClr>
                </a:solidFill>
              </a:rPr>
            </a:br>
            <a:r>
              <a:rPr lang="en-US" sz="2400" u="sng" dirty="0">
                <a:solidFill>
                  <a:schemeClr val="accent6">
                    <a:lumMod val="50000"/>
                  </a:schemeClr>
                </a:solidFill>
              </a:rPr>
              <a:t> </a:t>
            </a:r>
            <a:br>
              <a:rPr lang="en-US" sz="2400" u="sng" dirty="0"/>
            </a:br>
            <a:endParaRPr lang="en-IN" sz="2400" u="sng" dirty="0"/>
          </a:p>
        </p:txBody>
      </p:sp>
      <p:sp>
        <p:nvSpPr>
          <p:cNvPr id="3" name="Content Placeholder 2">
            <a:extLst>
              <a:ext uri="{FF2B5EF4-FFF2-40B4-BE49-F238E27FC236}">
                <a16:creationId xmlns:a16="http://schemas.microsoft.com/office/drawing/2014/main" id="{2B42CB2F-EAB4-91D2-2522-E6354DF6F354}"/>
              </a:ext>
            </a:extLst>
          </p:cNvPr>
          <p:cNvSpPr>
            <a:spLocks noGrp="1"/>
          </p:cNvSpPr>
          <p:nvPr>
            <p:ph idx="1"/>
          </p:nvPr>
        </p:nvSpPr>
        <p:spPr>
          <a:xfrm>
            <a:off x="460145" y="626164"/>
            <a:ext cx="10125028" cy="5973419"/>
          </a:xfrm>
        </p:spPr>
        <p:txBody>
          <a:bodyPr>
            <a:normAutofit/>
          </a:bodyPr>
          <a:lstStyle/>
          <a:p>
            <a:pPr marL="400050"/>
            <a:endParaRPr lang="en-US" dirty="0"/>
          </a:p>
          <a:p>
            <a:pPr marL="400050"/>
            <a:endParaRPr lang="en-US" dirty="0"/>
          </a:p>
        </p:txBody>
      </p:sp>
      <p:pic>
        <p:nvPicPr>
          <p:cNvPr id="8" name="Picture 7">
            <a:extLst>
              <a:ext uri="{FF2B5EF4-FFF2-40B4-BE49-F238E27FC236}">
                <a16:creationId xmlns:a16="http://schemas.microsoft.com/office/drawing/2014/main" id="{5AEBC317-1EEF-BA29-16B0-4AED3E5905C1}"/>
              </a:ext>
            </a:extLst>
          </p:cNvPr>
          <p:cNvPicPr>
            <a:picLocks noChangeAspect="1"/>
          </p:cNvPicPr>
          <p:nvPr/>
        </p:nvPicPr>
        <p:blipFill>
          <a:blip r:embed="rId2"/>
          <a:stretch>
            <a:fillRect/>
          </a:stretch>
        </p:blipFill>
        <p:spPr>
          <a:xfrm>
            <a:off x="688094" y="839616"/>
            <a:ext cx="5687219" cy="3429479"/>
          </a:xfrm>
          <a:prstGeom prst="rect">
            <a:avLst/>
          </a:prstGeom>
        </p:spPr>
      </p:pic>
      <p:pic>
        <p:nvPicPr>
          <p:cNvPr id="10" name="Picture 9">
            <a:extLst>
              <a:ext uri="{FF2B5EF4-FFF2-40B4-BE49-F238E27FC236}">
                <a16:creationId xmlns:a16="http://schemas.microsoft.com/office/drawing/2014/main" id="{C3286A01-C014-256B-9354-4AF680856AD5}"/>
              </a:ext>
            </a:extLst>
          </p:cNvPr>
          <p:cNvPicPr>
            <a:picLocks noChangeAspect="1"/>
          </p:cNvPicPr>
          <p:nvPr/>
        </p:nvPicPr>
        <p:blipFill>
          <a:blip r:embed="rId3"/>
          <a:stretch>
            <a:fillRect/>
          </a:stretch>
        </p:blipFill>
        <p:spPr>
          <a:xfrm>
            <a:off x="6547844" y="839616"/>
            <a:ext cx="5455654" cy="3314942"/>
          </a:xfrm>
          <a:prstGeom prst="rect">
            <a:avLst/>
          </a:prstGeom>
        </p:spPr>
      </p:pic>
    </p:spTree>
    <p:extLst>
      <p:ext uri="{BB962C8B-B14F-4D97-AF65-F5344CB8AC3E}">
        <p14:creationId xmlns:p14="http://schemas.microsoft.com/office/powerpoint/2010/main" val="15268438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03667-6685-F84C-DDB8-56AA2F01B7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4108A4-BB6C-D343-7895-6E6E754655D1}"/>
              </a:ext>
            </a:extLst>
          </p:cNvPr>
          <p:cNvSpPr>
            <a:spLocks noGrp="1"/>
          </p:cNvSpPr>
          <p:nvPr>
            <p:ph type="title"/>
          </p:nvPr>
        </p:nvSpPr>
        <p:spPr>
          <a:xfrm>
            <a:off x="460145" y="79514"/>
            <a:ext cx="8236594" cy="387626"/>
          </a:xfrm>
        </p:spPr>
        <p:txBody>
          <a:bodyPr>
            <a:normAutofit fontScale="90000"/>
          </a:bodyPr>
          <a:lstStyle/>
          <a:p>
            <a:r>
              <a:rPr lang="en-US" sz="2400" u="sng" dirty="0">
                <a:solidFill>
                  <a:srgbClr val="002060"/>
                </a:solidFill>
              </a:rPr>
              <a:t>Key Insights &amp; Business Recommendations for DHL</a:t>
            </a:r>
            <a:r>
              <a:rPr lang="en-US" sz="2400" u="sng" dirty="0">
                <a:solidFill>
                  <a:schemeClr val="accent6">
                    <a:lumMod val="50000"/>
                  </a:schemeClr>
                </a:solidFill>
              </a:rPr>
              <a:t>   </a:t>
            </a:r>
            <a:br>
              <a:rPr lang="en-US" sz="2400" u="sng" dirty="0">
                <a:solidFill>
                  <a:schemeClr val="accent6">
                    <a:lumMod val="50000"/>
                  </a:schemeClr>
                </a:solidFill>
              </a:rPr>
            </a:br>
            <a:r>
              <a:rPr lang="en-US" sz="2400" u="sng" dirty="0">
                <a:solidFill>
                  <a:schemeClr val="accent6">
                    <a:lumMod val="50000"/>
                  </a:schemeClr>
                </a:solidFill>
              </a:rPr>
              <a:t> </a:t>
            </a:r>
            <a:br>
              <a:rPr lang="en-US" sz="2400" u="sng" dirty="0"/>
            </a:br>
            <a:endParaRPr lang="en-IN" sz="2400" u="sng" dirty="0"/>
          </a:p>
        </p:txBody>
      </p:sp>
      <p:sp>
        <p:nvSpPr>
          <p:cNvPr id="3" name="Content Placeholder 2">
            <a:extLst>
              <a:ext uri="{FF2B5EF4-FFF2-40B4-BE49-F238E27FC236}">
                <a16:creationId xmlns:a16="http://schemas.microsoft.com/office/drawing/2014/main" id="{CB9EA5E8-C25E-6819-B163-13DF252200D7}"/>
              </a:ext>
            </a:extLst>
          </p:cNvPr>
          <p:cNvSpPr>
            <a:spLocks noGrp="1"/>
          </p:cNvSpPr>
          <p:nvPr>
            <p:ph idx="1"/>
          </p:nvPr>
        </p:nvSpPr>
        <p:spPr>
          <a:xfrm>
            <a:off x="460145" y="626164"/>
            <a:ext cx="10125028" cy="5973419"/>
          </a:xfrm>
        </p:spPr>
        <p:txBody>
          <a:bodyPr>
            <a:normAutofit lnSpcReduction="10000"/>
          </a:bodyPr>
          <a:lstStyle/>
          <a:p>
            <a:pPr marL="0" indent="0">
              <a:buNone/>
            </a:pPr>
            <a:r>
              <a:rPr lang="en-US" b="1" dirty="0"/>
              <a:t>Key Insights:</a:t>
            </a:r>
            <a:endParaRPr lang="en-US" dirty="0"/>
          </a:p>
          <a:p>
            <a:r>
              <a:rPr lang="en-US" dirty="0"/>
              <a:t>Some routes have higher average delays and lower efficiency compared to others.</a:t>
            </a:r>
          </a:p>
          <a:p>
            <a:r>
              <a:rPr lang="en-US" dirty="0"/>
              <a:t>A few warehouses show higher delay and high utilization, indicating capacity and process issues.</a:t>
            </a:r>
          </a:p>
          <a:p>
            <a:r>
              <a:rPr lang="en-US" dirty="0"/>
              <a:t>Certain delivery agents have low on-time delivery percentages and need performance improvement.</a:t>
            </a:r>
          </a:p>
          <a:p>
            <a:r>
              <a:rPr lang="en-US" dirty="0"/>
              <a:t>Customs, traffic, and operational issues are common reasons for shipment delays.</a:t>
            </a:r>
          </a:p>
          <a:p>
            <a:r>
              <a:rPr lang="en-US" dirty="0"/>
              <a:t>Most shipments are delivered on time, but a small number face very high delays and need special attention.</a:t>
            </a:r>
          </a:p>
          <a:p>
            <a:pPr marL="0" indent="0">
              <a:buNone/>
            </a:pPr>
            <a:r>
              <a:rPr lang="en-US" b="1" dirty="0"/>
              <a:t>Business Recommendations:</a:t>
            </a:r>
            <a:endParaRPr lang="en-US" dirty="0"/>
          </a:p>
          <a:p>
            <a:r>
              <a:rPr lang="en-US" dirty="0"/>
              <a:t>Optimize slow and high-delay routes by using alternative paths and better scheduling.</a:t>
            </a:r>
          </a:p>
          <a:p>
            <a:r>
              <a:rPr lang="en-US" dirty="0"/>
              <a:t>Improve operations at high-delay and warehouses by increasing staff planning.</a:t>
            </a:r>
          </a:p>
          <a:p>
            <a:r>
              <a:rPr lang="en-US" dirty="0"/>
              <a:t>Provide training and mentoring to low-performing delivery agents and balance their workload.</a:t>
            </a:r>
          </a:p>
          <a:p>
            <a:r>
              <a:rPr lang="en-US" dirty="0"/>
              <a:t>Focus on the most common delay reasons and take preventive actions such as better route planning and coordination.</a:t>
            </a:r>
          </a:p>
          <a:p>
            <a:r>
              <a:rPr lang="en-US" dirty="0"/>
              <a:t>Monitor severely delayed shipments separately to avoid repeated issues and improve customer satisfaction.</a:t>
            </a:r>
          </a:p>
          <a:p>
            <a:pPr marL="400050"/>
            <a:endParaRPr lang="en-IN" dirty="0"/>
          </a:p>
        </p:txBody>
      </p:sp>
    </p:spTree>
    <p:extLst>
      <p:ext uri="{BB962C8B-B14F-4D97-AF65-F5344CB8AC3E}">
        <p14:creationId xmlns:p14="http://schemas.microsoft.com/office/powerpoint/2010/main" val="3533847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C6F4D-FAE0-CFF1-3DE1-63D2F2B985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7D1EEB-F145-CC25-8FED-05DD2A85C68D}"/>
              </a:ext>
            </a:extLst>
          </p:cNvPr>
          <p:cNvSpPr>
            <a:spLocks noGrp="1"/>
          </p:cNvSpPr>
          <p:nvPr>
            <p:ph type="title"/>
          </p:nvPr>
        </p:nvSpPr>
        <p:spPr>
          <a:xfrm>
            <a:off x="460145" y="79514"/>
            <a:ext cx="8236594" cy="387626"/>
          </a:xfrm>
        </p:spPr>
        <p:txBody>
          <a:bodyPr>
            <a:normAutofit fontScale="90000"/>
          </a:bodyPr>
          <a:lstStyle/>
          <a:p>
            <a:r>
              <a:rPr lang="en-US" sz="2400" u="sng" dirty="0">
                <a:solidFill>
                  <a:srgbClr val="002060"/>
                </a:solidFill>
              </a:rPr>
              <a:t>Video link</a:t>
            </a:r>
            <a:r>
              <a:rPr lang="en-US" sz="2400" u="sng" dirty="0">
                <a:solidFill>
                  <a:schemeClr val="accent6">
                    <a:lumMod val="50000"/>
                  </a:schemeClr>
                </a:solidFill>
              </a:rPr>
              <a:t>  </a:t>
            </a:r>
            <a:br>
              <a:rPr lang="en-US" sz="2400" u="sng" dirty="0">
                <a:solidFill>
                  <a:schemeClr val="accent6">
                    <a:lumMod val="50000"/>
                  </a:schemeClr>
                </a:solidFill>
              </a:rPr>
            </a:br>
            <a:r>
              <a:rPr lang="en-US" sz="2400" u="sng" dirty="0">
                <a:solidFill>
                  <a:schemeClr val="accent6">
                    <a:lumMod val="50000"/>
                  </a:schemeClr>
                </a:solidFill>
              </a:rPr>
              <a:t> </a:t>
            </a:r>
            <a:br>
              <a:rPr lang="en-US" sz="2400" u="sng" dirty="0"/>
            </a:br>
            <a:endParaRPr lang="en-IN" sz="2400" u="sng" dirty="0"/>
          </a:p>
        </p:txBody>
      </p:sp>
      <p:sp>
        <p:nvSpPr>
          <p:cNvPr id="3" name="Content Placeholder 2">
            <a:extLst>
              <a:ext uri="{FF2B5EF4-FFF2-40B4-BE49-F238E27FC236}">
                <a16:creationId xmlns:a16="http://schemas.microsoft.com/office/drawing/2014/main" id="{192D89C4-9A55-2222-7BD1-935CA9606781}"/>
              </a:ext>
            </a:extLst>
          </p:cNvPr>
          <p:cNvSpPr>
            <a:spLocks noGrp="1"/>
          </p:cNvSpPr>
          <p:nvPr>
            <p:ph idx="1"/>
          </p:nvPr>
        </p:nvSpPr>
        <p:spPr>
          <a:xfrm>
            <a:off x="460145" y="626164"/>
            <a:ext cx="10125028" cy="5973419"/>
          </a:xfrm>
        </p:spPr>
        <p:txBody>
          <a:bodyPr>
            <a:normAutofit/>
          </a:bodyPr>
          <a:lstStyle/>
          <a:p>
            <a:pPr marL="400050"/>
            <a:r>
              <a:rPr lang="en-US" dirty="0"/>
              <a:t>Task 1 to 5 explanation video link : </a:t>
            </a:r>
            <a:r>
              <a:rPr lang="en-US" dirty="0">
                <a:solidFill>
                  <a:srgbClr val="00B0F0"/>
                </a:solidFill>
                <a:hlinkClick r:id="rId2">
                  <a:extLst>
                    <a:ext uri="{A12FA001-AC4F-418D-AE19-62706E023703}">
                      <ahyp:hlinkClr xmlns:ahyp="http://schemas.microsoft.com/office/drawing/2018/hyperlinkcolor" val="tx"/>
                    </a:ext>
                  </a:extLst>
                </a:hlinkClick>
              </a:rPr>
              <a:t>https://www.loom.com/share/ad380637b77f4fc18c4f09aa7427adf5</a:t>
            </a:r>
            <a:endParaRPr lang="en-US" dirty="0">
              <a:solidFill>
                <a:schemeClr val="tx1"/>
              </a:solidFill>
            </a:endParaRPr>
          </a:p>
          <a:p>
            <a:pPr marL="400050"/>
            <a:r>
              <a:rPr lang="en-US" dirty="0">
                <a:solidFill>
                  <a:schemeClr val="tx1"/>
                </a:solidFill>
              </a:rPr>
              <a:t>Task 6 to 7 and insights and recommendation video link:</a:t>
            </a:r>
          </a:p>
          <a:p>
            <a:pPr marL="400050"/>
            <a:r>
              <a:rPr lang="en-IN" dirty="0">
                <a:solidFill>
                  <a:srgbClr val="00B0F0"/>
                </a:solidFill>
                <a:hlinkClick r:id="rId3">
                  <a:extLst>
                    <a:ext uri="{A12FA001-AC4F-418D-AE19-62706E023703}">
                      <ahyp:hlinkClr xmlns:ahyp="http://schemas.microsoft.com/office/drawing/2018/hyperlinkcolor" val="tx"/>
                    </a:ext>
                  </a:extLst>
                </a:hlinkClick>
              </a:rPr>
              <a:t>https://www.loom.com/share/0a9f132c0d0940aea5ab89de3880fb83</a:t>
            </a:r>
            <a:endParaRPr lang="en-IN" dirty="0">
              <a:solidFill>
                <a:srgbClr val="00B0F0"/>
              </a:solidFill>
            </a:endParaRPr>
          </a:p>
          <a:p>
            <a:pPr marL="400050"/>
            <a:r>
              <a:rPr lang="en-IN" dirty="0">
                <a:solidFill>
                  <a:schemeClr val="tx1"/>
                </a:solidFill>
              </a:rPr>
              <a:t>The reason of explaining my project into 2 video because in my free version of loom it only allow 5 minuets of recording so kindly consider my both videos.</a:t>
            </a:r>
          </a:p>
        </p:txBody>
      </p:sp>
    </p:spTree>
    <p:extLst>
      <p:ext uri="{BB962C8B-B14F-4D97-AF65-F5344CB8AC3E}">
        <p14:creationId xmlns:p14="http://schemas.microsoft.com/office/powerpoint/2010/main" val="232316475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526</TotalTime>
  <Words>3705</Words>
  <Application>Microsoft Office PowerPoint</Application>
  <PresentationFormat>Widescreen</PresentationFormat>
  <Paragraphs>205</Paragraphs>
  <Slides>41</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41</vt:i4>
      </vt:variant>
    </vt:vector>
  </HeadingPairs>
  <TitlesOfParts>
    <vt:vector size="49" baseType="lpstr">
      <vt:lpstr>Aptos</vt:lpstr>
      <vt:lpstr>Aptos Display</vt:lpstr>
      <vt:lpstr>Arial</vt:lpstr>
      <vt:lpstr>Baskerville Old Face</vt:lpstr>
      <vt:lpstr>Trebuchet MS</vt:lpstr>
      <vt:lpstr>Wingdings 3</vt:lpstr>
      <vt:lpstr>Office Theme</vt:lpstr>
      <vt:lpstr>Facet</vt:lpstr>
      <vt:lpstr> Logistics Optimization for Delivery Routes of DHL</vt:lpstr>
      <vt:lpstr>Project Overview</vt:lpstr>
      <vt:lpstr>Data set used</vt:lpstr>
      <vt:lpstr>TASK 1 (Data cleaning &amp; preparation) 1.1 Identify and delete duplicate Order_id,Shipment_id</vt:lpstr>
      <vt:lpstr>PowerPoint Presentation</vt:lpstr>
      <vt:lpstr>1.2 Replace null or missing delay hours with average delay for the rout_id</vt:lpstr>
      <vt:lpstr>1.3 Converting all date column to YYYY-MMM-DD HH-MM-SS </vt:lpstr>
      <vt:lpstr>1.4 Validating Referential Integrity </vt:lpstr>
      <vt:lpstr>Task 2 (Delivery Delay Analysis) 2.1 Calculating delivery delay (in hours) for each shipment  </vt:lpstr>
      <vt:lpstr>2.2 Finding out the Top 10 delayed routes based on average delay hours </vt:lpstr>
      <vt:lpstr>2.3 By using window functions ranking warehouse on the basis of delay </vt:lpstr>
      <vt:lpstr>2.4 Identifying the average delay per Delivery Type </vt:lpstr>
      <vt:lpstr>        Task 2 Visuals</vt:lpstr>
      <vt:lpstr>Task 3(Route Optimization Insights) 3.1 calculating average transit time (in hours) across all shipments  </vt:lpstr>
      <vt:lpstr>3.2 Average delay (in hours) per route </vt:lpstr>
      <vt:lpstr>3.3 Calculating distance-to-time efficiency ratio </vt:lpstr>
      <vt:lpstr>3.4 Top 3 routes with the worst efficiency ratio </vt:lpstr>
      <vt:lpstr>3.5 Routes with &gt;20% of shipments delayed beyond expected transit time </vt:lpstr>
      <vt:lpstr>3.6 Recommendation </vt:lpstr>
      <vt:lpstr>Task 3 Visual’s </vt:lpstr>
      <vt:lpstr>Task 4(Warehouse Performance) 4.1 Top 3 Warehouses with Highest Average Delay </vt:lpstr>
      <vt:lpstr>4.2Total Shipments vs Delayed Shipments for Each Warehouse </vt:lpstr>
      <vt:lpstr>4.3Warehouses Where Average Delay Exceeds Global Average </vt:lpstr>
      <vt:lpstr>4.4Ranking Warehouses by On-Time Delivery Percentage  </vt:lpstr>
      <vt:lpstr>          Task 4 Visuals   </vt:lpstr>
      <vt:lpstr>Task 5(Delivery Agent Performance) 5.1 Ranking Delivery Agents (per Route) by On-Time Delivery  </vt:lpstr>
      <vt:lpstr>5.2  Finding agents who's on-time % is below 85%   </vt:lpstr>
      <vt:lpstr>5.3 Compare Avg Rating &amp; Experience of Top 5 vs Bottom 5 Agents based on on-time delivery%  </vt:lpstr>
      <vt:lpstr>5.4 Suggesting training or workload balancing strategies for low-performing agents </vt:lpstr>
      <vt:lpstr>Task 5 visuals</vt:lpstr>
      <vt:lpstr>Task 6(Shipment Tracking Analytics) 6.1 Latest Status of Each Shipment  </vt:lpstr>
      <vt:lpstr>6.2 Routes where Majority of Shipments are in Transit or Returned  </vt:lpstr>
      <vt:lpstr>6.3 Identifying the Most Frequent Delay Reasons   </vt:lpstr>
      <vt:lpstr>6.4 Identify Orders with Exceptionally High Delay (&gt; 120 Hours)    </vt:lpstr>
      <vt:lpstr>Task 7 7.1 Average Delivery Delay per Source Country      </vt:lpstr>
      <vt:lpstr>7.2 On-Time Delivery Percentage       </vt:lpstr>
      <vt:lpstr>7.3 Average Delay per Route_ID        </vt:lpstr>
      <vt:lpstr>7.4 Warehouse Utilization Percentage        </vt:lpstr>
      <vt:lpstr>         Task 7 Visuals        </vt:lpstr>
      <vt:lpstr>Key Insights &amp; Business Recommendations for DHL      </vt:lpstr>
      <vt:lpstr>Video link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Ananta Nayak</dc:creator>
  <cp:lastModifiedBy>Ananta Nayak</cp:lastModifiedBy>
  <cp:revision>15</cp:revision>
  <dcterms:created xsi:type="dcterms:W3CDTF">2026-01-13T18:16:00Z</dcterms:created>
  <dcterms:modified xsi:type="dcterms:W3CDTF">2026-01-24T19:01:47Z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60D04C52FB074E4E8E3E7257D422D4A3_12</vt:lpwstr>
  </property>
  <property fmtid="{D5CDD505-2E9C-101B-9397-08002B2CF9AE}" pid="3" name="KSOProductBuildVer">
    <vt:lpwstr>1033-12.2.0.23196</vt:lpwstr>
  </property>
</Properties>
</file>